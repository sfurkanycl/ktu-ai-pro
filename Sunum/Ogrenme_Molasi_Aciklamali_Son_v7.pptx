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55788925a7a494c" /><Relationship Type="http://schemas.openxmlformats.org/officeDocument/2006/relationships/extended-properties" Target="/docProps/app.xml" Id="R11e6d1c94c274d77" /><Relationship Type="http://schemas.openxmlformats.org/officeDocument/2006/relationships/officeDocument" Target="/ppt/presentation.xml" Id="Ra48f311954934a12" /></Relationships>
</file>

<file path=ppt/presentation.xml><?xml version="1.0" encoding="utf-8"?>
<p:presentation xmlns:p="http://schemas.openxmlformats.org/presentationml/2006/main">
  <p:sldMasterIdLst>
    <p:sldMasterId xmlns:r="http://schemas.openxmlformats.org/officeDocument/2006/relationships" id="2147483648" r:id="Ra8b274d18084445b"/>
  </p:sldMasterIdLst>
  <p:notesMasterIdLst>
    <p:notesMasterId xmlns:r="http://schemas.openxmlformats.org/officeDocument/2006/relationships" r:id="R8d0e5ca9b81b4a4e"/>
  </p:notesMasterIdLst>
  <p:sldIdLst>
    <p:sldId xmlns:r="http://schemas.openxmlformats.org/officeDocument/2006/relationships" id="256" r:id="Rcaa80c2c71134c67"/>
    <p:sldId xmlns:r="http://schemas.openxmlformats.org/officeDocument/2006/relationships" id="257" r:id="R9c9400f283204abc"/>
    <p:sldId xmlns:r="http://schemas.openxmlformats.org/officeDocument/2006/relationships" id="258" r:id="R602ff22791084a69"/>
    <p:sldId xmlns:r="http://schemas.openxmlformats.org/officeDocument/2006/relationships" id="259" r:id="R71dd9fb5e52c426e"/>
    <p:sldId xmlns:r="http://schemas.openxmlformats.org/officeDocument/2006/relationships" id="260" r:id="Reaabda9745684acd"/>
    <p:sldId xmlns:r="http://schemas.openxmlformats.org/officeDocument/2006/relationships" id="261" r:id="R1eee7f9749dc4dc3"/>
    <p:sldId xmlns:r="http://schemas.openxmlformats.org/officeDocument/2006/relationships" id="262" r:id="Rc0010e8bf1364a59"/>
    <p:sldId xmlns:r="http://schemas.openxmlformats.org/officeDocument/2006/relationships" id="263" r:id="R8e1b0dd205f94e7a"/>
    <p:sldId xmlns:r="http://schemas.openxmlformats.org/officeDocument/2006/relationships" id="264" r:id="Rf268ba3a8dd04570"/>
    <p:sldId xmlns:r="http://schemas.openxmlformats.org/officeDocument/2006/relationships" id="265" r:id="R9782f8263c4d4f9f"/>
    <p:sldId xmlns:r="http://schemas.openxmlformats.org/officeDocument/2006/relationships" id="266" r:id="R391b612738524dc6"/>
    <p:sldId xmlns:r="http://schemas.openxmlformats.org/officeDocument/2006/relationships" id="267" r:id="R26380244204146f8"/>
    <p:sldId xmlns:r="http://schemas.openxmlformats.org/officeDocument/2006/relationships" id="268" r:id="R51c3eda0451c46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705122fa704746" /><Relationship Type="http://schemas.openxmlformats.org/officeDocument/2006/relationships/slideMaster" Target="/ppt/slideMasters/slideMaster1.xml" Id="Ra8b274d18084445b" /><Relationship Type="http://schemas.openxmlformats.org/officeDocument/2006/relationships/notesMaster" Target="/ppt/notesMasters/notesMaster1.xml" Id="R8d0e5ca9b81b4a4e" /><Relationship Type="http://schemas.openxmlformats.org/officeDocument/2006/relationships/presProps" Target="/ppt/presProps.xml" Id="R1212190e72bd4e5c" /><Relationship Type="http://schemas.openxmlformats.org/officeDocument/2006/relationships/tableStyles" Target="/ppt/tableStyles.xml" Id="R70f908fa0e014172" /><Relationship Type="http://schemas.openxmlformats.org/officeDocument/2006/relationships/slide" Target="/ppt/slides/slide1.xml" Id="Rcaa80c2c71134c67" /><Relationship Type="http://schemas.openxmlformats.org/officeDocument/2006/relationships/slide" Target="/ppt/slides/slide2.xml" Id="R9c9400f283204abc" /><Relationship Type="http://schemas.openxmlformats.org/officeDocument/2006/relationships/slide" Target="/ppt/slides/slide3.xml" Id="R602ff22791084a69" /><Relationship Type="http://schemas.openxmlformats.org/officeDocument/2006/relationships/slide" Target="/ppt/slides/slide4.xml" Id="R71dd9fb5e52c426e" /><Relationship Type="http://schemas.openxmlformats.org/officeDocument/2006/relationships/slide" Target="/ppt/slides/slide5.xml" Id="Reaabda9745684acd" /><Relationship Type="http://schemas.openxmlformats.org/officeDocument/2006/relationships/slide" Target="/ppt/slides/slide6.xml" Id="R1eee7f9749dc4dc3" /><Relationship Type="http://schemas.openxmlformats.org/officeDocument/2006/relationships/slide" Target="/ppt/slides/slide7.xml" Id="Rc0010e8bf1364a59" /><Relationship Type="http://schemas.openxmlformats.org/officeDocument/2006/relationships/slide" Target="/ppt/slides/slide8.xml" Id="R8e1b0dd205f94e7a" /><Relationship Type="http://schemas.openxmlformats.org/officeDocument/2006/relationships/slide" Target="/ppt/slides/slide9.xml" Id="Rf268ba3a8dd04570" /><Relationship Type="http://schemas.openxmlformats.org/officeDocument/2006/relationships/slide" Target="/ppt/slides/slide10.xml" Id="R9782f8263c4d4f9f" /><Relationship Type="http://schemas.openxmlformats.org/officeDocument/2006/relationships/slide" Target="/ppt/slides/slide11.xml" Id="R391b612738524dc6" /><Relationship Type="http://schemas.openxmlformats.org/officeDocument/2006/relationships/slide" Target="/ppt/slides/slide12.xml" Id="R26380244204146f8" /><Relationship Type="http://schemas.openxmlformats.org/officeDocument/2006/relationships/slide" Target="/ppt/slides/slide13.xml" Id="R51c3eda0451c46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19a357c66748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236ebb01db4d5c" /><Relationship Type="http://schemas.openxmlformats.org/officeDocument/2006/relationships/notesMaster" Target="/ppt/notesMasters/notesMaster1.xml" Id="R5604159eeb4e48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8eb378b9ac4abd" /><Relationship Type="http://schemas.openxmlformats.org/officeDocument/2006/relationships/notesMaster" Target="/ppt/notesMasters/notesMaster1.xml" Id="R5eeffc124ca44b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c306bc1c614a8d" /><Relationship Type="http://schemas.openxmlformats.org/officeDocument/2006/relationships/notesMaster" Target="/ppt/notesMasters/notesMaster1.xml" Id="Rf7e8ecc89b9144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acf37fa04c49d1" /><Relationship Type="http://schemas.openxmlformats.org/officeDocument/2006/relationships/notesMaster" Target="/ppt/notesMasters/notesMaster1.xml" Id="R85971abca49046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c2e0bb14634c3c" /><Relationship Type="http://schemas.openxmlformats.org/officeDocument/2006/relationships/notesMaster" Target="/ppt/notesMasters/notesMaster1.xml" Id="R4ceacdf3f39b48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f53ba81a5d4d01" /><Relationship Type="http://schemas.openxmlformats.org/officeDocument/2006/relationships/notesMaster" Target="/ppt/notesMasters/notesMaster1.xml" Id="R3af8d15771364b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06e0403693443b" /><Relationship Type="http://schemas.openxmlformats.org/officeDocument/2006/relationships/notesMaster" Target="/ppt/notesMasters/notesMaster1.xml" Id="R397514c7fef84e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d85307c5f3415e" /><Relationship Type="http://schemas.openxmlformats.org/officeDocument/2006/relationships/notesMaster" Target="/ppt/notesMasters/notesMaster1.xml" Id="R67688df83e684a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887112cede475a" /><Relationship Type="http://schemas.openxmlformats.org/officeDocument/2006/relationships/notesMaster" Target="/ppt/notesMasters/notesMaster1.xml" Id="Ra263c46abde646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f8aabfa1294fbb" /><Relationship Type="http://schemas.openxmlformats.org/officeDocument/2006/relationships/notesMaster" Target="/ppt/notesMasters/notesMaster1.xml" Id="R70dc14d2fd8c4ea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1744c85a594265" /><Relationship Type="http://schemas.openxmlformats.org/officeDocument/2006/relationships/notesMaster" Target="/ppt/notesMasters/notesMaster1.xml" Id="Rf907cf17b23c42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8f25700e644bc9" /><Relationship Type="http://schemas.openxmlformats.org/officeDocument/2006/relationships/notesMaster" Target="/ppt/notesMasters/notesMaster1.xml" Id="R9769c52ee70d43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402fe6fd9624edb" /><Relationship Type="http://schemas.openxmlformats.org/officeDocument/2006/relationships/notesMaster" Target="/ppt/notesMasters/notesMaster1.xml" Id="R9466d5941d524c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süre 20 saniye.</a:t>
            </a:r>
          </a:p>
          <a:p xmlns:a="http://schemas.openxmlformats.org/drawingml/2006/main">
            <a:r>
              <a:t/>
            </a:r>
          </a:p>
          <a:p xmlns:a="http://schemas.openxmlformats.org/drawingml/2006/main">
            <a:r>
              <a:t>Öğrenme Molası, ilkokul öğrencilerinin bilgisayarda geçirdiği zamanın içine planlı öğrenme etkinlikleri yerleştiren bir Windows masaüstü uygulamasıdır. Projede öğrenci, veli ve öğretmen aynı öğrenme sürecini farklı ekranlardan takip eder. Amacımız çocuğa yalnızca soru çözdürmek değil, zorlandığı kazanımı belirleyip farklı sorularla pekiştirmesini sağlamaktır. Sunumda kullanıcı akışını, teknik yapıyı ve mevcut sınırlarımızı anlatacağız.</a:t>
            </a:r>
          </a:p>
          <a:p xmlns:a="http://schemas.openxmlformats.org/drawingml/2006/main">
            <a:r>
              <a:t/>
            </a:r>
          </a:p>
          <a:p xmlns:a="http://schemas.openxmlformats.org/drawingml/2006/main">
            <a:r>
              <a:t>Kod kaynakları: role_ui.py, role_quiz.py. Mevcut sürüm, 10 Ekim 2026. Ekranlar örnek/test verileri içerir.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süre 30 saniye.</a:t>
            </a:r>
          </a:p>
          <a:p xmlns:a="http://schemas.openxmlformats.org/drawingml/2006/main">
            <a:r>
              <a:t/>
            </a:r>
          </a:p>
          <a:p xmlns:a="http://schemas.openxmlformats.org/drawingml/2006/main">
            <a:r>
              <a:t>Veli ekranına yalnızca genel doğru yanlış sayısını değil, tekrar edilmesi önerilen konuları ekledik. Ders, konu, toplam cevap, yanlış sayısı ve başarı oranı birlikte görülüyor. Başarı yüzde seksenin altında olduğunda veya ipucu kullanımı yüksek olduğunda pekiştirme önerisi gösteriyoruz. Beşten az cevap varsa kesin bir yetersizlik yargısı vermeden az veri diyoruz. Çözülmemiş konular değerlendirilmez. reading_values gibi teknik kodlar kullanıcıya gösterilmiyor. Öğretmen kendi sınıfını ve seçtiği öğrencinin gelişimini görebiliyor.</a:t>
            </a:r>
          </a:p>
          <a:p xmlns:a="http://schemas.openxmlformats.org/drawingml/2006/main">
            <a:r>
              <a:t/>
            </a:r>
          </a:p>
          <a:p xmlns:a="http://schemas.openxmlformats.org/drawingml/2006/main">
            <a:r>
              <a:t>Kod kaynakları: role_ui.py, role_store.py. Mevcut sürüm, 10 Ekim 2026. Ekranlar örnek/test verileri içerir.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süre 35 saniye.</a:t>
            </a:r>
          </a:p>
          <a:p xmlns:a="http://schemas.openxmlformats.org/drawingml/2006/main">
            <a:r>
              <a:t/>
            </a:r>
          </a:p>
          <a:p xmlns:a="http://schemas.openxmlformats.org/drawingml/2006/main">
            <a:r>
              <a:t>Uygulamanın ana programlama dili Python. Veriler SQLite üzerinde SQL ile tutuluyor. Yapay zekâ ve soru paketleri arasında JSON kullanıyoruz; Windows görev zamanlayıcı tanımları XML biçiminde. Masaüstü arayüz PyQt6 ile geliştirildi. QThread ağ ve tanıma işlerini arayüzden ayırıyor, QTimer zaman ve çizim olaylarını yönetiyor. Gemini bağlantısında google-genai, yanıt doğrulamada Pydantic kullanılıyor. PDF metinleri pypdf ile okunuyor. Ses için yapılandırmaya göre yerel Piper, ElevenLabs veya Gemini TTS, oynatma için pygame kullanılıyor. Geliştirme ortamı VS Code, sürüm takibi Git ve GitHub. Uygulama yerel Windows prototipidir.</a:t>
            </a:r>
          </a:p>
          <a:p xmlns:a="http://schemas.openxmlformats.org/drawingml/2006/main">
            <a:r>
              <a:t/>
            </a:r>
          </a:p>
          <a:p xmlns:a="http://schemas.openxmlformats.org/drawingml/2006/main">
            <a:r>
              <a:t>Kod kaynakları: requirements.txt, role_schedule.py, audio_narrator.py, learning_engine/audio_service.py. Mevcut sürüm, 10 Ekim 2026. Ekranlar örnek/test verileri içerir.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süre 35 saniye.</a:t>
            </a:r>
          </a:p>
          <a:p xmlns:a="http://schemas.openxmlformats.org/drawingml/2006/main">
            <a:r>
              <a:t/>
            </a:r>
          </a:p>
          <a:p xmlns:a="http://schemas.openxmlformats.org/drawingml/2006/main">
            <a:r>
              <a:t>Uygulamanın ana dili Python, masaüstü arayüzü PyQt6. Arayüz olay döngüsü kullanıcı işlemlerini yönetiyor. role_store hesap, yetkilendirme, görev ve cevap kaydını gerçekleştiriyor. role_quiz oturum akışını, mastery_session ise ilerleme kararını yönetiyor. Yeni soru üretimi curriculum_practice içindeki QThread işçisiyle çalışıyor. İşçi ready ve failed sinyalleri gönderiyor, arayüz bu sinyalleri ana iş parçacığında karşılıyor. Böylece ağ isteği sürerken çocuk çalışmaya devam edebiliyor. Kalıcı kayıtları SQLite üzerinde tutuyoruz. Gemini dış hizmet, hazır soru bankası ise yerel kaynak. Bu sürümde merkezi sunucu veya cihazlar arasında eşitleme yok.</a:t>
            </a:r>
          </a:p>
          <a:p xmlns:a="http://schemas.openxmlformats.org/drawingml/2006/main">
            <a:r>
              <a:t/>
            </a:r>
          </a:p>
          <a:p xmlns:a="http://schemas.openxmlformats.org/drawingml/2006/main">
            <a:r>
              <a:t>Kod kaynakları: role_ui.py, role_store.py, role_quiz.py, mastery_session.py, curriculum_practice.py. Mevcut sürüm, 10 Ekim 2026. Ekranlar örnek/test verileri içerir.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süre 30 saniye.</a:t>
            </a:r>
          </a:p>
          <a:p xmlns:a="http://schemas.openxmlformats.org/drawingml/2006/main">
            <a:r>
              <a:t/>
            </a:r>
          </a:p>
          <a:p xmlns:a="http://schemas.openxmlformats.org/drawingml/2006/main">
            <a:r>
              <a:t>Veri modelinde veli ve öğretmen users tablosunda, çocuklar students tablosunda bulunuyor. students.parent_id çocuğu veliye bağlıyor. classes.teacher_id sınıfı öğretmene bağlıyor. class_students öğrencilerle sınıflar arasındaki çoktan çoğa ilişkiyi tutuyor. Görevler assignments, sorular questions tablosunda. Görev yanıtları student_results, serbest ve ek destek yanıtları practice_attempts üzerinden saklanıyor. answer_metadata ders, kazanım, süre ve destek bilgisini tamamlıyor. answer_snapshots soru metninin o andaki kopyasını ve parmak izini tutuyor. SQLite bağlantılarında foreign_keys açık. Cevap kaydı BEGIN IMMEDIATE işlemiyle birden fazla ilgili kaydı birlikte yazıyor.</a:t>
            </a:r>
          </a:p>
          <a:p xmlns:a="http://schemas.openxmlformats.org/drawingml/2006/main">
            <a:r>
              <a:t/>
            </a:r>
          </a:p>
          <a:p xmlns:a="http://schemas.openxmlformats.org/drawingml/2006/main">
            <a:r>
              <a:t>Kod kaynakları: data/education_database.py, role_store.py:500. Mevcut sürüm, 10 Ekim 2026. Ekranlar örnek/test verileri içerir.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süre 40 saniye.</a:t>
            </a:r>
          </a:p>
          <a:p xmlns:a="http://schemas.openxmlformats.org/drawingml/2006/main">
            <a:r>
              <a:t/>
            </a:r>
          </a:p>
          <a:p xmlns:a="http://schemas.openxmlformats.org/drawingml/2006/main">
            <a:r>
              <a:t>Planlı görevlerde yalnızca süre dolmasını beklemiyoruz. Her soru türü için son en fazla beş yanıtı tutuyoruz. İpucu kullanılan doğru cevap, yardımsız başarı göstergesine katkı sağlamıyor. Bir soru türündeki son beş yanıtın dördü yardımsız doğruysa o türün oranı yüzde seksen olur. Ancak diğer türlerde de gerekli örnek sayısı ve başarı sağlanmalıdır. Kod, görevdeki soru sayısına göre asgari örnek sayısını sınırlar. Dolayısıyla çok küçük görevlerde ölçüm daha zayıftır. Bu oran bir uygulama içi ilerleme kuralıdır. Çocuğun konuyu bilimsel olarak yüzde seksen öğrendiğini kanıtlayan psikometrik bir ölçüm değildir. Eşiği ve örnek sayısını pilot sonuçlarına göre geliştirmeyi hedefliyoruz.</a:t>
            </a:r>
          </a:p>
          <a:p xmlns:a="http://schemas.openxmlformats.org/drawingml/2006/main">
            <a:r>
              <a:t/>
            </a:r>
          </a:p>
          <a:p xmlns:a="http://schemas.openxmlformats.org/drawingml/2006/main">
            <a:r>
              <a:t>Kod kaynakları: mastery_session.py. Mevcut sürüm, 10 Ekim 2026. Ekranlar örnek/test verileri içerir.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süre 40 saniye.</a:t>
            </a:r>
          </a:p>
          <a:p xmlns:a="http://schemas.openxmlformats.org/drawingml/2006/main">
            <a:r>
              <a:t/>
            </a:r>
          </a:p>
          <a:p xmlns:a="http://schemas.openxmlformats.org/drawingml/2006/main">
            <a:r>
              <a:t>Yanlış cevap, arayüzden arka plan işçisine gider. Gemini isteğine soru, seçenekler, doğru cevap, açıklama, kazanım ve daha önce kullanılan soru metinleri ekleniyor. Öğrenci kimliğini bu isteğin ayrı bir alanı olarak göndermiyoruz, ancak soru veya belge içine kişisel bilgi yazılmışsa içerikle birlikte gidebilir. Google GenAI SDK üzerinden Interactions API kullanıyoruz. Kodun varsayılan modeli gemini-3.8-flash, model adı ortam ayarıyla değişebilir. Yanıt JSON metni olarak geliyor. Pydantic seçenek sayısını ve cevap indeksini doğruluyor. Ek kurallar ve tekrar kontrolünden sonra üç yeni destek sorusu oturuma ekleniyor. Altmış saniyelik zaman aşımı ayarlı. Kota ve bağlantı hatasında hazır sorularla devam ediyoruz. Şema kontrolü içeriğin anlam bakımından doğruluğunu garanti etmiyor.</a:t>
            </a:r>
          </a:p>
          <a:p xmlns:a="http://schemas.openxmlformats.org/drawingml/2006/main">
            <a:r>
              <a:t/>
            </a:r>
          </a:p>
          <a:p xmlns:a="http://schemas.openxmlformats.org/drawingml/2006/main">
            <a:r>
              <a:t>Kod kaynakları: teaching_materials.py:80, curriculum_practice.py:120, role_quiz.py. Mevcut sürüm, 10 Ekim 2026. Ekranlar örnek/test verileri içerir.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süre 30 saniye.</a:t>
            </a:r>
          </a:p>
          <a:p xmlns:a="http://schemas.openxmlformats.org/drawingml/2006/main">
            <a:r>
              <a:t/>
            </a:r>
          </a:p>
          <a:p xmlns:a="http://schemas.openxmlformats.org/drawingml/2006/main">
            <a:r>
              <a:t>Matematikte yapay zekâyı öğrenci yardım istediğinde devreye alıyoruz. Bu soruyu anlat düğmesi mevcut soru, seçenekler ve beklenen cevap üzerinden kısa işlemli çözüm istiyor. İstek QThread üzerinde yürürken mevcut anlatım başlıyor. JSON şeması doğrulanıyor; üretilen sonucun kayıtlı seçenekle uyumu kontrol ediliyor. Aynı sorunun çözümü yeniden kullanılıyor. Adımlar ses bitince ilerliyor; eski veya kesilen sesin bildirimleri yeni adımı atlatmıyor. API hata verirse mevcut anlatım sürüyor. Bu kontrol matematiksel doğruluğun tam kanıtı değildir; öğretmen kontrolü önemlidir. Slayttaki işlemler temsili örnektir. Canlı ses ve API yanıtlarının cihaz üzerinde ayrıca denenmesi gerekir.</a:t>
            </a:r>
          </a:p>
          <a:p xmlns:a="http://schemas.openxmlformats.org/drawingml/2006/main">
            <a:r>
              <a:t/>
            </a:r>
          </a:p>
          <a:p xmlns:a="http://schemas.openxmlformats.org/drawingml/2006/main">
            <a:r>
              <a:t>Kod kaynakları: math_solution.py, integrated_ui.py, audio_narrator.py. Mevcut sürüm, 10 Ekim 2026. Ekranlar örnek/test verileri içerir.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süre 35 saniye.</a:t>
            </a:r>
          </a:p>
          <a:p xmlns:a="http://schemas.openxmlformats.org/drawingml/2006/main">
            <a:r>
              <a:t/>
            </a:r>
          </a:p>
          <a:p xmlns:a="http://schemas.openxmlformats.org/drawingml/2006/main">
            <a:r>
              <a:t>Velinin seçtiği tarih ve saat task_schedules tablosunda tutuluyor. role_schedule Windows Görev Zamanlayıcısına XML tanımıyla görev ekliyor. Başlatma komutu uygulamaya schedule-id ile görev numarasını iletiyor. Uygulama açıksa zaman kontrolü de devrede. Başlatma anında durum pending iken started yapılması, aynı görevin birden fazla akış tarafından alınmasını azaltıyor. Windows oturumu ve bilgisayar açık olmalı. Serbest çalışma istediği zaman çıkışa izin veriyor. Planlı çalışmada öğrenme hedefi veya veli doğrulaması çıkış sağlıyor. Klavye ve pencere kontrolü yöneticiye karşı aşılamaz işletim sistemi güvenliği değildir.</a:t>
            </a:r>
          </a:p>
          <a:p xmlns:a="http://schemas.openxmlformats.org/drawingml/2006/main">
            <a:r>
              <a:t/>
            </a:r>
          </a:p>
          <a:p xmlns:a="http://schemas.openxmlformats.org/drawingml/2006/main">
            <a:r>
              <a:t>Kod kaynakları: role_schedule.py, role_launcher.py, role_quiz.py, keyboard_guard.py. Mevcut sürüm, 10 Ekim 2026. Ekranlar örnek/test verileri içerir.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süre 30 saniye.</a:t>
            </a:r>
          </a:p>
          <a:p xmlns:a="http://schemas.openxmlformats.org/drawingml/2006/main">
            <a:r>
              <a:t/>
            </a:r>
          </a:p>
          <a:p xmlns:a="http://schemas.openxmlformats.org/drawingml/2006/main">
            <a:r>
              <a:t>Öğretmenin PDF belgesinden pypdf ile metin çıkarılıyor. Word ve metin belgeleri de soru atölyesine kaynak olabiliyor. Kaynak içerik sınıf, ders ve kazanım bilgisiyle birlikte soru taslağı üretimine gönderiliyor. Öğretmen taslağı kontrol edip onaylayabiliyor. Metin katmanı olmayan taranmış PDF doğrudan metin çıkarımını sınırlayabilir. Ses için yerel Piper veya yapılandırılmış dış hizmet bağlantısı kullanılıyor. El yazısı alanında bir QTimer son çizimden sonra sekiz yüz elli milisaniyelik duraklamayı izliyor. Tanıma arka plan işçisi sonucunu arayüze gönderiyor. animated_story modülü açıklamayı animasyonlu sahneyle destekliyor. Burada bir dil modeli eğittiğimizi iddia etmiyoruz. Ses adımı oynatma tamamlandığında ilerler. Eski seslerin bekleyen bildirimleri engellenir. Gemini çözümü hazırlanırken mevcut anlatım durdurulmaz.</a:t>
            </a:r>
          </a:p>
          <a:p xmlns:a="http://schemas.openxmlformats.org/drawingml/2006/main">
            <a:r>
              <a:t/>
            </a:r>
          </a:p>
          <a:p xmlns:a="http://schemas.openxmlformats.org/drawingml/2006/main">
            <a:r>
              <a:t>Kod kaynakları: teaching_materials.py, audio_narrator.py, role_launcher.py, integrated_ui.py:270, animated_story.py. Mevcut sürüm, 10 Ekim 2026. Ekranlar örnek/test verileri içerir.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süre 30 saniye.</a:t>
            </a:r>
          </a:p>
          <a:p xmlns:a="http://schemas.openxmlformats.org/drawingml/2006/main">
            <a:r>
              <a:t/>
            </a:r>
          </a:p>
          <a:p xmlns:a="http://schemas.openxmlformats.org/drawingml/2006/main">
            <a:r>
              <a:t>Veli ve öğretmen parolaları her hesap için ayrı rastgele tuz ve iki yüz bin yinelemeli PBKDF2-SHA256 ile özetleniyor. Doğrulamada hmac.compare_digest kullanılıyor. require_student gibi işlevler veri katmanında erişimi denetliyor. Hesaplarda başarısız giriş takibi bulunuyor. Basit öğrenci girişi güçlü kimlik doğrulama değildir. API anahtarı ortam ayarlarından okunuyor. Yerel SQLite dosyası kendiliğinden şifrelenmiş değildir. Son soru üretimi değişikliğinde yirmi beş seçili otomatik test geçti. Özellikle gösterilen soruyu koruma, tekrar eleme, ilerleme ve hata akışları test edildi. Modelin eğitim doğruluğunu veya ürünün tamamının hatasız olduğunu bu sayıdan çıkaramayız.</a:t>
            </a:r>
          </a:p>
          <a:p xmlns:a="http://schemas.openxmlformats.org/drawingml/2006/main">
            <a:r>
              <a:t/>
            </a:r>
          </a:p>
          <a:p xmlns:a="http://schemas.openxmlformats.org/drawingml/2006/main">
            <a:r>
              <a:t>Kod kaynakları: role_store.py:55, test_gemini_remediation.py, test_mastery.py, test_materials.py. Mevcut sürüm, 10 Ekim 2026. Ekranlar örnek/test verileri içerir.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süre 45 saniye.</a:t>
            </a:r>
          </a:p>
          <a:p xmlns:a="http://schemas.openxmlformats.org/drawingml/2006/main">
            <a:r>
              <a:t/>
            </a:r>
          </a:p>
          <a:p xmlns:a="http://schemas.openxmlformats.org/drawingml/2006/main">
            <a:r>
              <a:t>Telefon ve tablet için mevcut PyQt6 ekranlarını doğrudan taşımak yerine Flutter ve Dart ile Android ve iOS arayüzü hazırlamayı planlarız. Dokunmatik kullanım, tablet kalemi ve farklı ekran boyutlarına uyum sağlarız. Python iş mantığını bir sunucu API’si arkasında düzenler, hesapları, görevleri ve ilerlemeyi merkezi veritabanında eşitleriz. Gemini anahtarları mobil uygulamaya gömülmez; istekler yetkilendirilmiş sunucudan geçer. Planlı çalışmalar bildirimle hatırlatılır. Zorunlu ekran ve çıkış sınırlaması platforma bağlıdır: Android’de yönetilen cihaz ve kiosk, iOS’ta Guided Access veya cihaz yönetimi seçenekleri incelenir. Guided Access kullanıcının başlattığı bir oturumdur, uygulamanın kendiliğinden kilit açma yetkisi değildir. Windows davranışının her kişisel telefonda aynısını garanti etmeyiz. Bu bölüm uygulanmış özellik değil, geliştirme planıdır.</a:t>
            </a:r>
          </a:p>
          <a:p xmlns:a="http://schemas.openxmlformats.org/drawingml/2006/main">
            <a:r>
              <a:t/>
            </a:r>
          </a:p>
          <a:p xmlns:a="http://schemas.openxmlformats.org/drawingml/2006/main">
            <a:r>
              <a:t>Kod kaynakları: Plan; https://docs.flutter.dev/platform-integration ; https://developer.android.com/work/dpc/dedicated-devices/lock-task-mode ; https://support.apple.com/en-ie/111795. Mevcut sürüm, 10 Ekim 2026. Ekranlar örnek/test verileri içerir.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Hedef süre 20 saniye.</a:t>
            </a:r>
          </a:p>
          <a:p xmlns:a="http://schemas.openxmlformats.org/drawingml/2006/main">
            <a:r>
              <a:t/>
            </a:r>
          </a:p>
          <a:p xmlns:a="http://schemas.openxmlformats.org/drawingml/2006/main">
            <a:r>
              <a:t>Prototipin rol ekranları, planlama, raporlama ve pekiştirme akışı hazır. Yazılım testleri bu davranışları sınar; çocuğun daha iyi öğrendiğini tek başına kanıtlamaz. Öğretmen denetimindeki pilotta konu başarısını, öğrenmenin kalıcılığını ve yapay zekâ sorularının doğruluğunu ölçmeyi planlıyoruz. Sonuçlara göre uygulamanın öğrenme ölçütlerini geliştireceğiz.</a:t>
            </a:r>
          </a:p>
          <a:p xmlns:a="http://schemas.openxmlformats.org/drawingml/2006/main">
            <a:r>
              <a:t/>
            </a:r>
          </a:p>
          <a:p xmlns:a="http://schemas.openxmlformats.org/drawingml/2006/main">
            <a:r>
              <a:t>Kod kaynakları: Mevcut kod ve proje hedefleri. Mevcut sürüm, 10 Ekim 2026. Ekranlar örnek/test verileri içerir.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92caf11b2c4c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37eb764e444e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1266dc72c543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17cb67af66b4c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6b64505adc49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907b7fd36049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223ED3-59D9-425B-A98D-FD33BF7542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E226F36-A4FD-4D4C-B846-F7B3D90829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13BB98-DA50-4909-8169-BD74ABFFE69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3CDABC-12F9-408D-AE1D-17A31505B3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C9DCE4F-3243-4321-A1D3-19950DF19A1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460458-DBB4-4A45-B073-5650643554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4A07DA-4F15-4B02-A7F2-606066CF02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7F008C-8CEC-428D-975B-B6E72C052DF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DB985F-0D86-4F3B-B062-A7D3AB9C83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27F7C1-DC36-433A-BA0D-E011483314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0971ea08ad41a8" /><Relationship Type="http://schemas.openxmlformats.org/officeDocument/2006/relationships/slideLayout" Target="/ppt/slideLayouts/slideLayout1.xml" Id="R97c00c5c2fc74ca1" /><Relationship Type="http://schemas.openxmlformats.org/officeDocument/2006/relationships/slideLayout" Target="/ppt/slideLayouts/slideLayout2.xml" Id="R5ccfcd6363534ba0" /><Relationship Type="http://schemas.openxmlformats.org/officeDocument/2006/relationships/slideLayout" Target="/ppt/slideLayouts/slideLayout3.xml" Id="R13d5b68167db4387" /><Relationship Type="http://schemas.openxmlformats.org/officeDocument/2006/relationships/slideLayout" Target="/ppt/slideLayouts/slideLayout4.xml" Id="Rfca5d58b31aa49e7" /><Relationship Type="http://schemas.openxmlformats.org/officeDocument/2006/relationships/slideLayout" Target="/ppt/slideLayouts/slideLayout5.xml" Id="Rbf1f6a4dde1f43e5" /><Relationship Type="http://schemas.openxmlformats.org/officeDocument/2006/relationships/slideLayout" Target="/ppt/slideLayouts/slideLayout6.xml" Id="Rc5cd8591341d46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c00c5c2fc74ca1"/>
    <p:sldLayoutId xmlns:r="http://schemas.openxmlformats.org/officeDocument/2006/relationships" id="2147483650" r:id="R5ccfcd6363534ba0"/>
    <p:sldLayoutId xmlns:r="http://schemas.openxmlformats.org/officeDocument/2006/relationships" id="2147483651" r:id="R13d5b68167db4387"/>
    <p:sldLayoutId xmlns:r="http://schemas.openxmlformats.org/officeDocument/2006/relationships" id="2147483652" r:id="Rfca5d58b31aa49e7"/>
    <p:sldLayoutId xmlns:r="http://schemas.openxmlformats.org/officeDocument/2006/relationships" id="2147483653" r:id="Rbf1f6a4dde1f43e5"/>
    <p:sldLayoutId xmlns:r="http://schemas.openxmlformats.org/officeDocument/2006/relationships" id="2147483654" r:id="Rc5cd8591341d46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2d004af1ba445e" /><Relationship Type="http://schemas.openxmlformats.org/officeDocument/2006/relationships/image" Target="/ppt/media/image.png" Id="R13779a4cbb3e4933" /><Relationship Type="http://schemas.openxmlformats.org/officeDocument/2006/relationships/notesSlide" Target="/ppt/notesSlides/notesSlide1.xml" Id="R877a92095d4347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b16e9149f664339" /><Relationship Type="http://schemas.openxmlformats.org/officeDocument/2006/relationships/notesSlide" Target="/ppt/notesSlides/notesSlide2.xml" Id="Rdd19c06aa26948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5390aff1d8e45b9" /><Relationship Type="http://schemas.openxmlformats.org/officeDocument/2006/relationships/notesSlide" Target="/ppt/notesSlides/notesSlide3.xml" Id="R3845b73db27246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62b974b35d4dc7" /><Relationship Type="http://schemas.openxmlformats.org/officeDocument/2006/relationships/notesSlide" Target="/ppt/notesSlides/notesSlide4.xml" Id="R2a28e57d84dc44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27454a119b4687" /><Relationship Type="http://schemas.openxmlformats.org/officeDocument/2006/relationships/notesSlide" Target="/ppt/notesSlides/notesSlide5.xml" Id="Re296b9f2bd734c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8382a47ae0042c3" /><Relationship Type="http://schemas.openxmlformats.org/officeDocument/2006/relationships/chart" Target="/ppt/slides/charts/chart1.xml" Id="Raea24e5141314785" /><Relationship Type="http://schemas.openxmlformats.org/officeDocument/2006/relationships/notesSlide" Target="/ppt/notesSlides/notesSlide6.xml" Id="Rbc35d3aef42b4b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75aded8d07448c8" /><Relationship Type="http://schemas.openxmlformats.org/officeDocument/2006/relationships/notesSlide" Target="/ppt/notesSlides/notesSlide7.xml" Id="R4097fe3b272642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1587a6fc7d6459a" /><Relationship Type="http://schemas.openxmlformats.org/officeDocument/2006/relationships/notesSlide" Target="/ppt/notesSlides/notesSlide8.xml" Id="Rad318f6bed184a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1eb9335c6fc4b58" /><Relationship Type="http://schemas.openxmlformats.org/officeDocument/2006/relationships/notesSlide" Target="/ppt/notesSlides/notesSlide9.xml" Id="R6d565cb38cfe48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bffaebdd9694c7f" /><Relationship Type="http://schemas.openxmlformats.org/officeDocument/2006/relationships/notesSlide" Target="/ppt/notesSlides/notesSlide10.xml" Id="Rc3ab672508584b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fcd7022a8214960" /><Relationship Type="http://schemas.openxmlformats.org/officeDocument/2006/relationships/notesSlide" Target="/ppt/notesSlides/notesSlide11.xml" Id="R78054a06e76847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79ac274407b49e1" /><Relationship Type="http://schemas.openxmlformats.org/officeDocument/2006/relationships/notesSlide" Target="/ppt/notesSlides/notesSlide12.xml" Id="R0e18dde5639940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005692714bb494d" /><Relationship Type="http://schemas.openxmlformats.org/officeDocument/2006/relationships/image" Target="/ppt/media/image2.png" Id="R674f661aa6ee414c" /><Relationship Type="http://schemas.openxmlformats.org/officeDocument/2006/relationships/notesSlide" Target="/ppt/notesSlides/notesSlide13.xml" Id="Rfc65255fd64c4f4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doughnutChart>
        <c:ser>
          <c:idx val="0"/>
          <c:order val="0"/>
          <c:tx>
            <c:v>Örnek yanıtlar</c:v>
          </c:tx>
          <c:dPt>
            <c:idx val="0"/>
            <c:spPr>
              <a:solidFill xmlns:a="http://schemas.openxmlformats.org/drawingml/2006/main">
                <a:srgbClr val="2B9C80"/>
              </a:solidFill>
            </c:spPr>
          </c:dPt>
          <c:dPt>
            <c:idx val="1"/>
            <c:spPr>
              <a:solidFill xmlns:a="http://schemas.openxmlformats.org/drawingml/2006/main">
                <a:srgbClr val="E68D9E"/>
              </a:solidFill>
            </c:spPr>
          </c:dPt>
          <c:cat>
            <c:strRef>
              <c:f>'Chart Data'!$A$2:$A$3</c:f>
              <c:strCache>
                <c:ptCount val="2"/>
                <c:pt idx="0">
                  <c:v>Yardımsız doğru</c:v>
                </c:pt>
                <c:pt idx="1">
                  <c:v>Yanlış veya ipuçlu</c:v>
                </c:pt>
              </c:strCache>
            </c:strRef>
          </c:cat>
          <c:val>
            <c:numRef>
              <c:f>'Chart Data'!$B$2:$B$3</c:f>
              <c:numCache>
                <c:formatCode>General</c:formatCode>
                <c:ptCount val="2"/>
                <c:pt idx="0">
                  <c:v>4</c:v>
                </c:pt>
                <c:pt idx="1">
                  <c:v>1</c:v>
                </c:pt>
              </c:numCache>
            </c:numRef>
          </c:val>
        </c:ser>
        <c:dLbls>
          <c:txPr>
            <a:bodyPr xmlns:a="http://schemas.openxmlformats.org/drawingml/2006/main" anchorCtr="1"/>
            <a:lstStyle xmlns:a="http://schemas.openxmlformats.org/drawingml/2006/main"/>
            <a:p xmlns:a="http://schemas.openxmlformats.org/drawingml/2006/main">
              <a:pPr>
                <a:defRPr sz="1500">
                  <a:latin typeface="Segoe UI"/>
                  <a:ea typeface="Segoe UI"/>
                  <a:cs typeface="Segoe UI"/>
                </a:defRPr>
              </a:pPr>
            </a:p>
          </c:txPr>
          <c:showLegendKey val="0"/>
          <c:showVal val="0"/>
          <c:showCatName val="0"/>
          <c:showSerName val="0"/>
          <c:showPercent val="0"/>
          <c:showBubbleSize val="0"/>
          <c:showLeaderLines val="0"/>
        </c:dLbls>
        <c:firstSliceAng val="270"/>
        <c:holeSize val="76"/>
      </c:doughnutChart>
      <c:spPr>
        <a:noFill xmlns:a="http://schemas.openxmlformats.org/drawingml/2006/mai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B3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DD170D-8A87-4E86-BDA5-CF43CD964C5E}"/>
              </a:ext>
            </a:extLst>
          </p:cNvPr>
          <p:cNvSpPr>
            <a:spLocks xmlns:a="http://schemas.openxmlformats.org/drawingml/2006/main" noGrp="1"/>
          </p:cNvSpPr>
          <p:nvPr/>
        </p:nvSpPr>
        <p:spPr>
          <a:xfrm xmlns:a="http://schemas.openxmlformats.org/drawingml/2006/main">
            <a:off x="609600" y="285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BFDCCD"/>
                </a:solidFill>
                <a:latin typeface="Segoe UI"/>
                <a:ea typeface="Segoe UI"/>
                <a:cs typeface="Segoe UI"/>
              </a:defRPr>
            </a:defPPr>
          </a:lstStyle>
          <a:p xmlns:a="http://schemas.openxmlformats.org/drawingml/2006/main">
            <a:pPr>
              <a:buNone/>
              <a:defRPr sz="1200" b="1">
                <a:solidFill>
                  <a:srgbClr val="BFDCCD"/>
                </a:solidFill>
                <a:latin typeface="Segoe UI"/>
                <a:ea typeface="Segoe UI"/>
                <a:cs typeface="Segoe UI"/>
              </a:defRPr>
            </a:pPr>
            <a:r>
              <a:rPr sz="1200" b="1">
                <a:solidFill>
                  <a:srgbClr val="BFDCCD"/>
                </a:solidFill>
                <a:latin typeface="Segoe UI"/>
                <a:ea typeface="Segoe UI"/>
                <a:cs typeface="Segoe UI"/>
              </a:rPr>
              <a:t>ÖĞRENME MOLASI</a:t>
            </a:r>
          </a:p>
        </p:txBody>
      </p:sp>
      <p:sp>
        <p:nvSpPr>
          <p:cNvPr id="2" name="">
            <a:extLst xmlns:a="http://schemas.openxmlformats.org/drawingml/2006/main">
              <a:ext uri="{FF2B5EF4-FFF2-40B4-BE49-F238E27FC236}">
                <a16:creationId xmlns:a16="http://schemas.microsoft.com/office/drawing/2014/main" id="{FE91753C-DAFA-4DF3-9A7B-B3B9480CF831}"/>
              </a:ext>
            </a:extLst>
          </p:cNvPr>
          <p:cNvSpPr>
            <a:spLocks xmlns:a="http://schemas.openxmlformats.org/drawingml/2006/main" noGrp="1"/>
          </p:cNvSpPr>
          <p:nvPr/>
        </p:nvSpPr>
        <p:spPr>
          <a:xfrm xmlns:a="http://schemas.openxmlformats.org/drawingml/2006/main">
            <a:off x="11144250" y="63055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FDCCD"/>
                </a:solidFill>
                <a:latin typeface="Segoe UI"/>
                <a:ea typeface="Segoe UI"/>
                <a:cs typeface="Segoe UI"/>
              </a:defRPr>
            </a:defPPr>
          </a:lstStyle>
          <a:p xmlns:a="http://schemas.openxmlformats.org/drawingml/2006/main">
            <a:pPr>
              <a:buNone/>
              <a:defRPr sz="1350" b="0">
                <a:solidFill>
                  <a:srgbClr val="BFDCCD"/>
                </a:solidFill>
                <a:latin typeface="Segoe UI"/>
                <a:ea typeface="Segoe UI"/>
                <a:cs typeface="Segoe UI"/>
              </a:defRPr>
            </a:pPr>
            <a:r>
              <a:rPr sz="1350" b="0">
                <a:solidFill>
                  <a:srgbClr val="BFDCCD"/>
                </a:solidFill>
                <a:latin typeface="Segoe UI"/>
                <a:ea typeface="Segoe UI"/>
                <a:cs typeface="Segoe UI"/>
              </a:rPr>
              <a:t>01</a:t>
            </a:r>
          </a:p>
        </p:txBody>
      </p:sp>
      <p:sp>
        <p:nvSpPr>
          <p:cNvPr id="3" name="">
            <a:extLst xmlns:a="http://schemas.openxmlformats.org/drawingml/2006/main">
              <a:ext uri="{FF2B5EF4-FFF2-40B4-BE49-F238E27FC236}">
                <a16:creationId xmlns:a16="http://schemas.microsoft.com/office/drawing/2014/main" id="{94BD81C0-7458-4584-8A2C-2078099AEFF6}"/>
              </a:ext>
            </a:extLst>
          </p:cNvPr>
          <p:cNvSpPr>
            <a:spLocks xmlns:a="http://schemas.openxmlformats.org/drawingml/2006/main" noGrp="1"/>
          </p:cNvSpPr>
          <p:nvPr/>
        </p:nvSpPr>
        <p:spPr>
          <a:xfrm xmlns:a="http://schemas.openxmlformats.org/drawingml/2006/main">
            <a:off x="609600" y="1476375"/>
            <a:ext cx="5143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FFFFFF"/>
                </a:solidFill>
                <a:latin typeface="Segoe UI"/>
                <a:ea typeface="Segoe UI"/>
                <a:cs typeface="Segoe UI"/>
              </a:defRPr>
            </a:defPPr>
          </a:lstStyle>
          <a:p xmlns:a="http://schemas.openxmlformats.org/drawingml/2006/main">
            <a:pPr>
              <a:buNone/>
              <a:defRPr sz="5850" b="1">
                <a:solidFill>
                  <a:srgbClr val="FFFFFF"/>
                </a:solidFill>
                <a:latin typeface="Segoe UI"/>
                <a:ea typeface="Segoe UI"/>
                <a:cs typeface="Segoe UI"/>
              </a:defRPr>
            </a:pPr>
            <a:r>
              <a:rPr sz="5850" b="1">
                <a:solidFill>
                  <a:srgbClr val="FFFFFF"/>
                </a:solidFill>
                <a:latin typeface="Segoe UI"/>
                <a:ea typeface="Segoe UI"/>
                <a:cs typeface="Segoe UI"/>
              </a:rPr>
              <a:t>Öğrenme</a:t>
            </a:r>
          </a:p>
          <a:p xmlns:a="http://schemas.openxmlformats.org/drawingml/2006/main">
            <a:pPr>
              <a:buNone/>
              <a:defRPr sz="5850" b="1">
                <a:solidFill>
                  <a:srgbClr val="FFFFFF"/>
                </a:solidFill>
                <a:latin typeface="Segoe UI"/>
                <a:ea typeface="Segoe UI"/>
                <a:cs typeface="Segoe UI"/>
              </a:defRPr>
            </a:pPr>
            <a:r>
              <a:rPr sz="5850" b="1">
                <a:solidFill>
                  <a:srgbClr val="FFFFFF"/>
                </a:solidFill>
                <a:latin typeface="Segoe UI"/>
                <a:ea typeface="Segoe UI"/>
                <a:cs typeface="Segoe UI"/>
              </a:rPr>
              <a:t>Molası</a:t>
            </a:r>
          </a:p>
        </p:txBody>
      </p:sp>
      <p:sp>
        <p:nvSpPr>
          <p:cNvPr id="4" name="">
            <a:extLst xmlns:a="http://schemas.openxmlformats.org/drawingml/2006/main">
              <a:ext uri="{FF2B5EF4-FFF2-40B4-BE49-F238E27FC236}">
                <a16:creationId xmlns:a16="http://schemas.microsoft.com/office/drawing/2014/main" id="{9811E2A0-BA75-457F-9B3B-2B842F187068}"/>
              </a:ext>
            </a:extLst>
          </p:cNvPr>
          <p:cNvSpPr>
            <a:spLocks xmlns:a="http://schemas.openxmlformats.org/drawingml/2006/main" noGrp="1"/>
          </p:cNvSpPr>
          <p:nvPr/>
        </p:nvSpPr>
        <p:spPr>
          <a:xfrm xmlns:a="http://schemas.openxmlformats.org/drawingml/2006/main">
            <a:off x="647700" y="357187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C4DFD2"/>
                </a:solidFill>
                <a:latin typeface="Segoe UI"/>
                <a:ea typeface="Segoe UI"/>
                <a:cs typeface="Segoe UI"/>
              </a:defRPr>
            </a:defPPr>
          </a:lstStyle>
          <a:p xmlns:a="http://schemas.openxmlformats.org/drawingml/2006/main">
            <a:pPr>
              <a:buNone/>
              <a:defRPr sz="2400" b="0">
                <a:solidFill>
                  <a:srgbClr val="C4DFD2"/>
                </a:solidFill>
                <a:latin typeface="Segoe UI"/>
                <a:ea typeface="Segoe UI"/>
                <a:cs typeface="Segoe UI"/>
              </a:defRPr>
            </a:pPr>
            <a:r>
              <a:rPr sz="2400" b="0">
                <a:solidFill>
                  <a:srgbClr val="C4DFD2"/>
                </a:solidFill>
                <a:latin typeface="Segoe UI"/>
                <a:ea typeface="Segoe UI"/>
                <a:cs typeface="Segoe UI"/>
              </a:rPr>
              <a:t>Çocuğun yanlış yaptığı konuları belirler,</a:t>
            </a:r>
          </a:p>
          <a:p xmlns:a="http://schemas.openxmlformats.org/drawingml/2006/main">
            <a:pPr>
              <a:buNone/>
              <a:defRPr sz="2400" b="0">
                <a:solidFill>
                  <a:srgbClr val="C4DFD2"/>
                </a:solidFill>
                <a:latin typeface="Segoe UI"/>
                <a:ea typeface="Segoe UI"/>
                <a:cs typeface="Segoe UI"/>
              </a:defRPr>
            </a:pPr>
            <a:r>
              <a:rPr sz="2400" b="0">
                <a:solidFill>
                  <a:srgbClr val="C4DFD2"/>
                </a:solidFill>
                <a:latin typeface="Segoe UI"/>
                <a:ea typeface="Segoe UI"/>
                <a:cs typeface="Segoe UI"/>
              </a:rPr>
              <a:t>uygun sorularla tekrar yapmasını sağlarız.</a:t>
            </a:r>
          </a:p>
        </p:txBody>
      </p:sp>
      <p:sp>
        <p:nvSpPr>
          <p:cNvPr id="5" name="">
            <a:extLst xmlns:a="http://schemas.openxmlformats.org/drawingml/2006/main">
              <a:ext uri="{FF2B5EF4-FFF2-40B4-BE49-F238E27FC236}">
                <a16:creationId xmlns:a16="http://schemas.microsoft.com/office/drawing/2014/main" id="{049C2138-15CA-4AB7-8229-1F0F33C0EDFB}"/>
              </a:ext>
            </a:extLst>
          </p:cNvPr>
          <p:cNvSpPr>
            <a:spLocks xmlns:a="http://schemas.openxmlformats.org/drawingml/2006/main" noGrp="1"/>
          </p:cNvSpPr>
          <p:nvPr/>
        </p:nvSpPr>
        <p:spPr>
          <a:xfrm xmlns:a="http://schemas.openxmlformats.org/drawingml/2006/main">
            <a:off x="647700" y="52197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4DFD2"/>
                </a:solidFill>
                <a:latin typeface="Segoe UI"/>
                <a:ea typeface="Segoe UI"/>
                <a:cs typeface="Segoe UI"/>
              </a:defRPr>
            </a:defPPr>
          </a:lstStyle>
          <a:p xmlns:a="http://schemas.openxmlformats.org/drawingml/2006/main">
            <a:pPr>
              <a:buNone/>
              <a:defRPr sz="1650" b="0">
                <a:solidFill>
                  <a:srgbClr val="C4DFD2"/>
                </a:solidFill>
                <a:latin typeface="Segoe UI"/>
                <a:ea typeface="Segoe UI"/>
                <a:cs typeface="Segoe UI"/>
              </a:defRPr>
            </a:pPr>
            <a:r>
              <a:rPr sz="1650" b="0">
                <a:solidFill>
                  <a:srgbClr val="C4DFD2"/>
                </a:solidFill>
                <a:latin typeface="Segoe UI"/>
                <a:ea typeface="Segoe UI"/>
                <a:cs typeface="Segoe UI"/>
              </a:rPr>
              <a:t>1–4. sınıflar için Windows uygulaması</a:t>
            </a:r>
          </a:p>
        </p:txBody>
      </p:sp>
      <p:pic>
        <p:nvPicPr>
          <p:cNvPr id="6" name="">
            <a:extLst xmlns:a="http://schemas.openxmlformats.org/drawingml/2006/main">
              <a:ext uri="{FF2B5EF4-FFF2-40B4-BE49-F238E27FC236}">
                <a16:creationId xmlns:a16="http://schemas.microsoft.com/office/drawing/2014/main" id="{F5B84237-EF3D-4440-9311-77DB4E198BB5}"/>
              </a:ext>
            </a:extLst>
          </p:cNvPr>
          <p:cNvPicPr>
            <a:picLocks xmlns:a="http://schemas.openxmlformats.org/drawingml/2006/main" noChangeAspect="1"/>
          </p:cNvPicPr>
          <p:nvPr/>
        </p:nvPicPr>
        <p:blipFill>
          <a:blip xmlns:r="http://schemas.openxmlformats.org/officeDocument/2006/relationships" xmlns:a="http://schemas.openxmlformats.org/drawingml/2006/main" r:embed="R13779a4cbb3e4933"/>
          <a:stretch xmlns:a="http://schemas.openxmlformats.org/drawingml/2006/main"/>
        </p:blipFill>
        <p:spPr>
          <a:xfrm xmlns:a="http://schemas.openxmlformats.org/drawingml/2006/main">
            <a:off x="5905500" y="1197119"/>
            <a:ext cx="5715000" cy="441613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EC6EDD8-247E-4C9B-80A7-63B1EA67BCA9}"/>
              </a:ext>
            </a:extLst>
          </p:cNvPr>
          <p:cNvSpPr>
            <a:spLocks xmlns:a="http://schemas.openxmlformats.org/drawingml/2006/main" noGrp="1"/>
          </p:cNvSpPr>
          <p:nvPr/>
        </p:nvSpPr>
        <p:spPr>
          <a:xfrm xmlns:a="http://schemas.openxmlformats.org/drawingml/2006/main">
            <a:off x="6286500" y="58102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C4DFD2"/>
                </a:solidFill>
                <a:latin typeface="Segoe UI"/>
                <a:ea typeface="Segoe UI"/>
                <a:cs typeface="Segoe UI"/>
              </a:defRPr>
            </a:defPPr>
          </a:lstStyle>
          <a:p xmlns:a="http://schemas.openxmlformats.org/drawingml/2006/main">
            <a:pPr>
              <a:buNone/>
              <a:defRPr sz="1575" b="0">
                <a:solidFill>
                  <a:srgbClr val="C4DFD2"/>
                </a:solidFill>
                <a:latin typeface="Segoe UI"/>
                <a:ea typeface="Segoe UI"/>
                <a:cs typeface="Segoe UI"/>
              </a:defRPr>
            </a:pPr>
            <a:r>
              <a:rPr sz="1575" b="0">
                <a:solidFill>
                  <a:srgbClr val="C4DFD2"/>
                </a:solidFill>
                <a:latin typeface="Segoe UI"/>
                <a:ea typeface="Segoe UI"/>
                <a:cs typeface="Segoe UI"/>
              </a:rPr>
              <a:t>Çocuklar için sade giriş</a:t>
            </a:r>
          </a:p>
        </p:txBody>
      </p:sp>
    </p:spTree>
    <p:extLst>
      <p:ext uri="{BB962C8B-B14F-4D97-AF65-F5344CB8AC3E}">
        <p14:creationId xmlns:p14="http://schemas.microsoft.com/office/powerpoint/2010/main" val="51442762"/>
      </p:ext>
    </p:extLst>
  </p:cSld>
</p:sld>
</file>

<file path=ppt/slides/slide2.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7EF439-3386-462C-966C-CC926D15D6F2}"/>
              </a:ext>
            </a:extLst>
          </p:cNvPr>
          <p:cNvSpPr>
            <a:spLocks xmlns:a="http://schemas.openxmlformats.org/drawingml/2006/main" noGrp="1"/>
          </p:cNvSpPr>
          <p:nvPr/>
        </p:nvSpPr>
        <p:spPr>
          <a:xfrm xmlns:a="http://schemas.openxmlformats.org/drawingml/2006/main">
            <a:off x="609600" y="285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B9C80"/>
                </a:solidFill>
                <a:latin typeface="Segoe UI"/>
                <a:ea typeface="Segoe UI"/>
                <a:cs typeface="Segoe UI"/>
              </a:defRPr>
            </a:defPPr>
          </a:lstStyle>
          <a:p xmlns:a="http://schemas.openxmlformats.org/drawingml/2006/main">
            <a:pPr>
              <a:defRPr sz="1200" b="1">
                <a:solidFill>
                  <a:srgbClr val="2B9C80"/>
                </a:solidFill>
                <a:latin typeface="Segoe UI"/>
                <a:ea typeface="Segoe UI"/>
                <a:cs typeface="Segoe UI"/>
              </a:defRPr>
            </a:pPr>
            <a:r>
              <a:rPr sz="1200" b="1">
                <a:solidFill>
                  <a:srgbClr val="2B9C80"/>
                </a:solidFill>
                <a:latin typeface="Segoe UI"/>
                <a:ea typeface="Segoe UI"/>
                <a:cs typeface="Segoe UI"/>
              </a:rPr>
              <a:t>ÖĞRENME MOLASI</a:t>
            </a:r>
          </a:p>
        </p:txBody>
      </p:sp>
      <p:sp>
        <p:nvSpPr>
          <p:cNvPr id="2" name="">
            <a:extLst xmlns:a="http://schemas.openxmlformats.org/drawingml/2006/main">
              <a:ext uri="{FF2B5EF4-FFF2-40B4-BE49-F238E27FC236}">
                <a16:creationId xmlns:a16="http://schemas.microsoft.com/office/drawing/2014/main" id="{068B4962-7035-4EC8-BAD5-4629D93060D9}"/>
              </a:ext>
            </a:extLst>
          </p:cNvPr>
          <p:cNvSpPr>
            <a:spLocks xmlns:a="http://schemas.openxmlformats.org/drawingml/2006/main" noGrp="1"/>
          </p:cNvSpPr>
          <p:nvPr/>
        </p:nvSpPr>
        <p:spPr>
          <a:xfrm xmlns:a="http://schemas.openxmlformats.org/drawingml/2006/main">
            <a:off x="609600" y="857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2B3C"/>
                </a:solidFill>
                <a:latin typeface="Segoe UI"/>
                <a:ea typeface="Segoe UI"/>
                <a:cs typeface="Segoe UI"/>
              </a:defRPr>
            </a:defPPr>
          </a:lstStyle>
          <a:p xmlns:a="http://schemas.openxmlformats.org/drawingml/2006/main">
            <a:pPr>
              <a:defRPr sz="3300" b="1">
                <a:solidFill>
                  <a:srgbClr val="152B3C"/>
                </a:solidFill>
                <a:latin typeface="Segoe UI"/>
                <a:ea typeface="Segoe UI"/>
                <a:cs typeface="Segoe UI"/>
              </a:defRPr>
            </a:pPr>
            <a:r>
              <a:rPr sz="3300" b="1">
                <a:solidFill>
                  <a:srgbClr val="152B3C"/>
                </a:solidFill>
                <a:latin typeface="Segoe UI"/>
                <a:ea typeface="Segoe UI"/>
                <a:cs typeface="Segoe UI"/>
              </a:rPr>
              <a:t>Veliye konu bazında tekrar önerisi</a:t>
            </a:r>
          </a:p>
        </p:txBody>
      </p:sp>
      <p:sp>
        <p:nvSpPr>
          <p:cNvPr id="3" name="">
            <a:extLst xmlns:a="http://schemas.openxmlformats.org/drawingml/2006/main">
              <a:ext uri="{FF2B5EF4-FFF2-40B4-BE49-F238E27FC236}">
                <a16:creationId xmlns:a16="http://schemas.microsoft.com/office/drawing/2014/main" id="{4266BCC0-77CD-43E6-B788-BEB340D0FC20}"/>
              </a:ext>
            </a:extLst>
          </p:cNvPr>
          <p:cNvSpPr>
            <a:spLocks xmlns:a="http://schemas.openxmlformats.org/drawingml/2006/main" noGrp="1"/>
          </p:cNvSpPr>
          <p:nvPr/>
        </p:nvSpPr>
        <p:spPr>
          <a:xfrm xmlns:a="http://schemas.openxmlformats.org/drawingml/2006/main">
            <a:off x="609600" y="21431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B9C80"/>
                </a:solidFill>
                <a:latin typeface="Segoe UI"/>
                <a:ea typeface="Segoe UI"/>
                <a:cs typeface="Segoe UI"/>
              </a:defRPr>
            </a:defPPr>
          </a:lstStyle>
          <a:p xmlns:a="http://schemas.openxmlformats.org/drawingml/2006/main">
            <a:pPr>
              <a:defRPr sz="1875" b="1">
                <a:solidFill>
                  <a:srgbClr val="2B9C80"/>
                </a:solidFill>
                <a:latin typeface="Segoe UI"/>
                <a:ea typeface="Segoe UI"/>
                <a:cs typeface="Segoe UI"/>
              </a:defRPr>
            </a:pPr>
            <a:r>
              <a:rPr sz="1875" b="1">
                <a:solidFill>
                  <a:srgbClr val="2B9C80"/>
                </a:solidFill>
                <a:latin typeface="Segoe UI"/>
                <a:ea typeface="Segoe UI"/>
                <a:cs typeface="Segoe UI"/>
              </a:rPr>
              <a:t>NE GÖSTERİYORUZ?</a:t>
            </a:r>
          </a:p>
        </p:txBody>
      </p:sp>
      <p:sp>
        <p:nvSpPr>
          <p:cNvPr id="4" name="">
            <a:extLst xmlns:a="http://schemas.openxmlformats.org/drawingml/2006/main">
              <a:ext uri="{FF2B5EF4-FFF2-40B4-BE49-F238E27FC236}">
                <a16:creationId xmlns:a16="http://schemas.microsoft.com/office/drawing/2014/main" id="{30DCEE3B-B2FE-4207-BB03-04E5A413E482}"/>
              </a:ext>
            </a:extLst>
          </p:cNvPr>
          <p:cNvSpPr>
            <a:spLocks xmlns:a="http://schemas.openxmlformats.org/drawingml/2006/main" noGrp="1"/>
          </p:cNvSpPr>
          <p:nvPr/>
        </p:nvSpPr>
        <p:spPr>
          <a:xfrm xmlns:a="http://schemas.openxmlformats.org/drawingml/2006/main">
            <a:off x="609600" y="2762250"/>
            <a:ext cx="5238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52B3C"/>
                </a:solidFill>
                <a:latin typeface="Segoe UI"/>
                <a:ea typeface="Segoe UI"/>
                <a:cs typeface="Segoe UI"/>
              </a:defRPr>
            </a:defPPr>
          </a:lstStyle>
          <a:p xmlns:a="http://schemas.openxmlformats.org/drawingml/2006/main">
            <a:pPr>
              <a:defRPr sz="2250" b="0">
                <a:solidFill>
                  <a:srgbClr val="152B3C"/>
                </a:solidFill>
                <a:latin typeface="Segoe UI"/>
                <a:ea typeface="Segoe UI"/>
                <a:cs typeface="Segoe UI"/>
              </a:defRPr>
            </a:pPr>
            <a:r>
              <a:rPr sz="2250" b="0">
                <a:solidFill>
                  <a:srgbClr val="152B3C"/>
                </a:solidFill>
                <a:latin typeface="Segoe UI"/>
                <a:ea typeface="Segoe UI"/>
                <a:cs typeface="Segoe UI"/>
              </a:rPr>
              <a:t>Veli, çocuğun her konuda kaç soru</a:t>
            </a:r>
          </a:p>
          <a:p xmlns:a="http://schemas.openxmlformats.org/drawingml/2006/main">
            <a:pPr>
              <a:defRPr sz="2250" b="0">
                <a:solidFill>
                  <a:srgbClr val="152B3C"/>
                </a:solidFill>
                <a:latin typeface="Segoe UI"/>
                <a:ea typeface="Segoe UI"/>
                <a:cs typeface="Segoe UI"/>
              </a:defRPr>
            </a:pPr>
            <a:r>
              <a:rPr sz="2250" b="0">
                <a:solidFill>
                  <a:srgbClr val="152B3C"/>
                </a:solidFill>
                <a:latin typeface="Segoe UI"/>
                <a:ea typeface="Segoe UI"/>
                <a:cs typeface="Segoe UI"/>
              </a:rPr>
              <a:t>çözdüğünü ve kaç yanlış yaptığını</a:t>
            </a:r>
          </a:p>
          <a:p xmlns:a="http://schemas.openxmlformats.org/drawingml/2006/main">
            <a:pPr>
              <a:defRPr sz="2250" b="0">
                <a:solidFill>
                  <a:srgbClr val="152B3C"/>
                </a:solidFill>
                <a:latin typeface="Segoe UI"/>
                <a:ea typeface="Segoe UI"/>
                <a:cs typeface="Segoe UI"/>
              </a:defRPr>
            </a:pPr>
            <a:r>
              <a:rPr sz="2250" b="0">
                <a:solidFill>
                  <a:srgbClr val="152B3C"/>
                </a:solidFill>
                <a:latin typeface="Segoe UI"/>
                <a:ea typeface="Segoe UI"/>
                <a:cs typeface="Segoe UI"/>
              </a:rPr>
              <a:t>görür. Sistem tekrar önerisi sunar.</a:t>
            </a:r>
          </a:p>
        </p:txBody>
      </p:sp>
      <p:sp>
        <p:nvSpPr>
          <p:cNvPr id="5" name="">
            <a:extLst xmlns:a="http://schemas.openxmlformats.org/drawingml/2006/main">
              <a:ext uri="{FF2B5EF4-FFF2-40B4-BE49-F238E27FC236}">
                <a16:creationId xmlns:a16="http://schemas.microsoft.com/office/drawing/2014/main" id="{F6B814EA-403A-4B07-A833-B3E0551769D4}"/>
              </a:ext>
            </a:extLst>
          </p:cNvPr>
          <p:cNvSpPr>
            <a:spLocks xmlns:a="http://schemas.openxmlformats.org/drawingml/2006/main" noGrp="1"/>
          </p:cNvSpPr>
          <p:nvPr/>
        </p:nvSpPr>
        <p:spPr>
          <a:xfrm xmlns:a="http://schemas.openxmlformats.org/drawingml/2006/main">
            <a:off x="6572250" y="21431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352C7"/>
                </a:solidFill>
                <a:latin typeface="Segoe UI"/>
                <a:ea typeface="Segoe UI"/>
                <a:cs typeface="Segoe UI"/>
              </a:defRPr>
            </a:defPPr>
          </a:lstStyle>
          <a:p xmlns:a="http://schemas.openxmlformats.org/drawingml/2006/main">
            <a:pPr>
              <a:defRPr sz="1875" b="1">
                <a:solidFill>
                  <a:srgbClr val="7352C7"/>
                </a:solidFill>
                <a:latin typeface="Segoe UI"/>
                <a:ea typeface="Segoe UI"/>
                <a:cs typeface="Segoe UI"/>
              </a:defRPr>
            </a:pPr>
            <a:r>
              <a:rPr sz="1875" b="1">
                <a:solidFill>
                  <a:srgbClr val="7352C7"/>
                </a:solidFill>
                <a:latin typeface="Segoe UI"/>
                <a:ea typeface="Segoe UI"/>
                <a:cs typeface="Segoe UI"/>
              </a:rPr>
              <a:t>NASIL SEÇİYORUZ?</a:t>
            </a:r>
          </a:p>
        </p:txBody>
      </p:sp>
      <p:sp>
        <p:nvSpPr>
          <p:cNvPr id="6" name="">
            <a:extLst xmlns:a="http://schemas.openxmlformats.org/drawingml/2006/main">
              <a:ext uri="{FF2B5EF4-FFF2-40B4-BE49-F238E27FC236}">
                <a16:creationId xmlns:a16="http://schemas.microsoft.com/office/drawing/2014/main" id="{268C33A4-F115-47C0-9AB4-C90A3299BA1D}"/>
              </a:ext>
            </a:extLst>
          </p:cNvPr>
          <p:cNvSpPr>
            <a:spLocks xmlns:a="http://schemas.openxmlformats.org/drawingml/2006/main" noGrp="1"/>
          </p:cNvSpPr>
          <p:nvPr/>
        </p:nvSpPr>
        <p:spPr>
          <a:xfrm xmlns:a="http://schemas.openxmlformats.org/drawingml/2006/main">
            <a:off x="6572250" y="2762250"/>
            <a:ext cx="4905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52B3C"/>
                </a:solidFill>
                <a:latin typeface="Segoe UI"/>
                <a:ea typeface="Segoe UI"/>
                <a:cs typeface="Segoe UI"/>
              </a:defRPr>
            </a:defPPr>
          </a:lstStyle>
          <a:p xmlns:a="http://schemas.openxmlformats.org/drawingml/2006/main">
            <a:pPr>
              <a:defRPr sz="2250" b="0">
                <a:solidFill>
                  <a:srgbClr val="152B3C"/>
                </a:solidFill>
                <a:latin typeface="Segoe UI"/>
                <a:ea typeface="Segoe UI"/>
                <a:cs typeface="Segoe UI"/>
              </a:defRPr>
            </a:pPr>
            <a:r>
              <a:rPr sz="2250" b="0">
                <a:solidFill>
                  <a:srgbClr val="152B3C"/>
                </a:solidFill>
                <a:latin typeface="Segoe UI"/>
                <a:ea typeface="Segoe UI"/>
                <a:cs typeface="Segoe UI"/>
              </a:rPr>
              <a:t>Bir konuda başarı %80’in altındaysa</a:t>
            </a:r>
          </a:p>
          <a:p xmlns:a="http://schemas.openxmlformats.org/drawingml/2006/main">
            <a:pPr>
              <a:defRPr sz="2250" b="0">
                <a:solidFill>
                  <a:srgbClr val="152B3C"/>
                </a:solidFill>
                <a:latin typeface="Segoe UI"/>
                <a:ea typeface="Segoe UI"/>
                <a:cs typeface="Segoe UI"/>
              </a:defRPr>
            </a:pPr>
            <a:r>
              <a:rPr sz="2250" b="0">
                <a:solidFill>
                  <a:srgbClr val="152B3C"/>
                </a:solidFill>
                <a:latin typeface="Segoe UI"/>
                <a:ea typeface="Segoe UI"/>
                <a:cs typeface="Segoe UI"/>
              </a:rPr>
              <a:t>veya ipucu kullanımı yüksekse</a:t>
            </a:r>
          </a:p>
          <a:p xmlns:a="http://schemas.openxmlformats.org/drawingml/2006/main">
            <a:pPr>
              <a:defRPr sz="2250" b="0">
                <a:solidFill>
                  <a:srgbClr val="152B3C"/>
                </a:solidFill>
                <a:latin typeface="Segoe UI"/>
                <a:ea typeface="Segoe UI"/>
                <a:cs typeface="Segoe UI"/>
              </a:defRPr>
            </a:pPr>
            <a:r>
              <a:rPr sz="2250" b="0">
                <a:solidFill>
                  <a:srgbClr val="152B3C"/>
                </a:solidFill>
                <a:latin typeface="Segoe UI"/>
                <a:ea typeface="Segoe UI"/>
                <a:cs typeface="Segoe UI"/>
              </a:rPr>
              <a:t>o konu için pekiştirme önerilir.</a:t>
            </a:r>
          </a:p>
        </p:txBody>
      </p:sp>
      <p:sp>
        <p:nvSpPr>
          <p:cNvPr id="7" name="">
            <a:extLst xmlns:a="http://schemas.openxmlformats.org/drawingml/2006/main">
              <a:ext uri="{FF2B5EF4-FFF2-40B4-BE49-F238E27FC236}">
                <a16:creationId xmlns:a16="http://schemas.microsoft.com/office/drawing/2014/main" id="{9E265324-D2BF-4446-90AF-76F8D22DAA5C}"/>
              </a:ext>
            </a:extLst>
          </p:cNvPr>
          <p:cNvSpPr>
            <a:spLocks xmlns:a="http://schemas.openxmlformats.org/drawingml/2006/main" noGrp="1"/>
          </p:cNvSpPr>
          <p:nvPr/>
        </p:nvSpPr>
        <p:spPr>
          <a:xfrm xmlns:a="http://schemas.openxmlformats.org/drawingml/2006/main">
            <a:off x="609600" y="485775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7352C7"/>
                </a:solidFill>
                <a:latin typeface="Segoe UI"/>
                <a:ea typeface="Segoe UI"/>
                <a:cs typeface="Segoe UI"/>
              </a:defRPr>
            </a:defPPr>
          </a:lstStyle>
          <a:p xmlns:a="http://schemas.openxmlformats.org/drawingml/2006/main">
            <a:pPr>
              <a:defRPr sz="2025" b="1">
                <a:solidFill>
                  <a:srgbClr val="7352C7"/>
                </a:solidFill>
                <a:latin typeface="Segoe UI"/>
                <a:ea typeface="Segoe UI"/>
                <a:cs typeface="Segoe UI"/>
              </a:defRPr>
            </a:pPr>
            <a:r>
              <a:rPr sz="2025" b="1">
                <a:solidFill>
                  <a:srgbClr val="7352C7"/>
                </a:solidFill>
                <a:latin typeface="Segoe UI"/>
                <a:ea typeface="Segoe UI"/>
                <a:cs typeface="Segoe UI"/>
              </a:rPr>
              <a:t>Beşten az cevapta “Az veri” yazarız; kesin bir yargıya varmayız.</a:t>
            </a:r>
          </a:p>
          <a:p xmlns:a="http://schemas.openxmlformats.org/drawingml/2006/main">
            <a:pPr>
              <a:defRPr sz="2025" b="1">
                <a:solidFill>
                  <a:srgbClr val="7352C7"/>
                </a:solidFill>
                <a:latin typeface="Segoe UI"/>
                <a:ea typeface="Segoe UI"/>
                <a:cs typeface="Segoe UI"/>
              </a:defRPr>
            </a:pPr>
            <a:r>
              <a:rPr sz="2025" b="1">
                <a:solidFill>
                  <a:srgbClr val="7352C7"/>
                </a:solidFill>
                <a:latin typeface="Segoe UI"/>
                <a:ea typeface="Segoe UI"/>
                <a:cs typeface="Segoe UI"/>
              </a:rPr>
              <a:t>Velilere teknik kodlar yerine anlaşılır konu adları gösteririz.</a:t>
            </a:r>
          </a:p>
        </p:txBody>
      </p:sp>
      <p:sp>
        <p:nvSpPr>
          <p:cNvPr id="8" name="">
            <a:extLst xmlns:a="http://schemas.openxmlformats.org/drawingml/2006/main">
              <a:ext uri="{FF2B5EF4-FFF2-40B4-BE49-F238E27FC236}">
                <a16:creationId xmlns:a16="http://schemas.microsoft.com/office/drawing/2014/main" id="{851CBDC2-F68D-48AF-BCFC-619D101F4323}"/>
              </a:ext>
            </a:extLst>
          </p:cNvPr>
          <p:cNvSpPr>
            <a:spLocks xmlns:a="http://schemas.openxmlformats.org/drawingml/2006/main" noGrp="1"/>
          </p:cNvSpPr>
          <p:nvPr/>
        </p:nvSpPr>
        <p:spPr>
          <a:xfrm xmlns:a="http://schemas.openxmlformats.org/drawingml/2006/main">
            <a:off x="609600" y="61912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6747E"/>
                </a:solidFill>
                <a:latin typeface="Segoe UI"/>
                <a:ea typeface="Segoe UI"/>
                <a:cs typeface="Segoe UI"/>
              </a:defRPr>
            </a:defPPr>
          </a:lstStyle>
          <a:p xmlns:a="http://schemas.openxmlformats.org/drawingml/2006/main">
            <a:pPr>
              <a:defRPr sz="1500" b="0">
                <a:solidFill>
                  <a:srgbClr val="66747E"/>
                </a:solidFill>
                <a:latin typeface="Segoe UI"/>
                <a:ea typeface="Segoe UI"/>
                <a:cs typeface="Segoe UI"/>
              </a:defRPr>
            </a:pPr>
            <a:r>
              <a:rPr sz="1500" b="0">
                <a:solidFill>
                  <a:srgbClr val="66747E"/>
                </a:solidFill>
                <a:latin typeface="Segoe UI"/>
                <a:ea typeface="Segoe UI"/>
                <a:cs typeface="Segoe UI"/>
              </a:rPr>
              <a:t>Veli yalnızca kendi çocuğunu; öğretmen kendi sınıfını ve seçtiği öğrenciyi izler.</a:t>
            </a:r>
          </a:p>
        </p:txBody>
      </p:sp>
    </p:spTree>
    <p:extLst>
      <p:ext uri="{BB962C8B-B14F-4D97-AF65-F5344CB8AC3E}">
        <p14:creationId xmlns:p14="http://schemas.microsoft.com/office/powerpoint/2010/main" val="354903803"/>
      </p:ext>
    </p:extLst>
  </p:cSld>
</p:sld>
</file>

<file path=ppt/slides/slide3.xml><?xml version="1.0" encoding="utf-8"?>
<p:sld xmlns:p="http://schemas.openxmlformats.org/presentationml/2006/main">
  <p:cSld>
    <p:bg>
      <p:bgPr>
        <a:solidFill xmlns:a="http://schemas.openxmlformats.org/drawingml/2006/main">
          <a:srgbClr val="152B3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C7898C8-D871-4C79-8785-BFA3D14D2285}"/>
              </a:ext>
            </a:extLst>
          </p:cNvPr>
          <p:cNvSpPr>
            <a:spLocks xmlns:a="http://schemas.openxmlformats.org/drawingml/2006/main" noGrp="1"/>
          </p:cNvSpPr>
          <p:nvPr/>
        </p:nvSpPr>
        <p:spPr>
          <a:xfrm xmlns:a="http://schemas.openxmlformats.org/drawingml/2006/main">
            <a:off x="609600" y="285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BFDCCD"/>
                </a:solidFill>
                <a:latin typeface="Segoe UI"/>
                <a:ea typeface="Segoe UI"/>
                <a:cs typeface="Segoe UI"/>
              </a:defRPr>
            </a:defPPr>
          </a:lstStyle>
          <a:p xmlns:a="http://schemas.openxmlformats.org/drawingml/2006/main">
            <a:pPr>
              <a:defRPr sz="1200" b="1">
                <a:solidFill>
                  <a:srgbClr val="BFDCCD"/>
                </a:solidFill>
                <a:latin typeface="Segoe UI"/>
                <a:ea typeface="Segoe UI"/>
                <a:cs typeface="Segoe UI"/>
              </a:defRPr>
            </a:pPr>
            <a:r>
              <a:rPr sz="1200" b="1">
                <a:solidFill>
                  <a:srgbClr val="BFDCCD"/>
                </a:solidFill>
                <a:latin typeface="Segoe UI"/>
                <a:ea typeface="Segoe UI"/>
                <a:cs typeface="Segoe UI"/>
              </a:rPr>
              <a:t>ÖĞRENME MOLASI</a:t>
            </a:r>
          </a:p>
        </p:txBody>
      </p:sp>
      <p:sp>
        <p:nvSpPr>
          <p:cNvPr id="2" name="">
            <a:extLst xmlns:a="http://schemas.openxmlformats.org/drawingml/2006/main">
              <a:ext uri="{FF2B5EF4-FFF2-40B4-BE49-F238E27FC236}">
                <a16:creationId xmlns:a16="http://schemas.microsoft.com/office/drawing/2014/main" id="{FEDE22DB-BEDD-4B40-B112-C8D5141272E2}"/>
              </a:ext>
            </a:extLst>
          </p:cNvPr>
          <p:cNvSpPr>
            <a:spLocks xmlns:a="http://schemas.openxmlformats.org/drawingml/2006/main" noGrp="1"/>
          </p:cNvSpPr>
          <p:nvPr/>
        </p:nvSpPr>
        <p:spPr>
          <a:xfrm xmlns:a="http://schemas.openxmlformats.org/drawingml/2006/main">
            <a:off x="609600" y="857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Segoe UI"/>
                <a:ea typeface="Segoe UI"/>
                <a:cs typeface="Segoe UI"/>
              </a:defRPr>
            </a:defPPr>
          </a:lstStyle>
          <a:p xmlns:a="http://schemas.openxmlformats.org/drawingml/2006/main">
            <a:pPr>
              <a:defRPr sz="3300" b="1">
                <a:solidFill>
                  <a:srgbClr val="FFFFFF"/>
                </a:solidFill>
                <a:latin typeface="Segoe UI"/>
                <a:ea typeface="Segoe UI"/>
                <a:cs typeface="Segoe UI"/>
              </a:defRPr>
            </a:pPr>
            <a:r>
              <a:rPr sz="3300" b="1">
                <a:solidFill>
                  <a:srgbClr val="FFFFFF"/>
                </a:solidFill>
                <a:latin typeface="Segoe UI"/>
                <a:ea typeface="Segoe UI"/>
                <a:cs typeface="Segoe UI"/>
              </a:rPr>
              <a:t>Kullandığımız diller ve araçlar</a:t>
            </a:r>
          </a:p>
        </p:txBody>
      </p:sp>
      <p:sp>
        <p:nvSpPr>
          <p:cNvPr id="3" name="">
            <a:extLst xmlns:a="http://schemas.openxmlformats.org/drawingml/2006/main">
              <a:ext uri="{FF2B5EF4-FFF2-40B4-BE49-F238E27FC236}">
                <a16:creationId xmlns:a16="http://schemas.microsoft.com/office/drawing/2014/main" id="{A5B382B7-64FA-42F7-B0E4-7EAADFE8AD5B}"/>
              </a:ext>
            </a:extLst>
          </p:cNvPr>
          <p:cNvSpPr>
            <a:spLocks xmlns:a="http://schemas.openxmlformats.org/drawingml/2006/main" noGrp="1"/>
          </p:cNvSpPr>
          <p:nvPr/>
        </p:nvSpPr>
        <p:spPr>
          <a:xfrm xmlns:a="http://schemas.openxmlformats.org/drawingml/2006/main">
            <a:off x="609600" y="20955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87C6AD"/>
                </a:solidFill>
                <a:latin typeface="Segoe UI"/>
                <a:ea typeface="Segoe UI"/>
                <a:cs typeface="Segoe UI"/>
              </a:defRPr>
            </a:defPPr>
          </a:lstStyle>
          <a:p xmlns:a="http://schemas.openxmlformats.org/drawingml/2006/main">
            <a:pPr>
              <a:defRPr sz="2100" b="1">
                <a:solidFill>
                  <a:srgbClr val="87C6AD"/>
                </a:solidFill>
                <a:latin typeface="Segoe UI"/>
                <a:ea typeface="Segoe UI"/>
                <a:cs typeface="Segoe UI"/>
              </a:defRPr>
            </a:pPr>
            <a:r>
              <a:rPr sz="2100" b="1">
                <a:solidFill>
                  <a:srgbClr val="87C6AD"/>
                </a:solidFill>
                <a:latin typeface="Segoe UI"/>
                <a:ea typeface="Segoe UI"/>
                <a:cs typeface="Segoe UI"/>
              </a:rPr>
              <a:t>Diller ve veri</a:t>
            </a:r>
          </a:p>
        </p:txBody>
      </p:sp>
      <p:sp>
        <p:nvSpPr>
          <p:cNvPr id="4" name="">
            <a:extLst xmlns:a="http://schemas.openxmlformats.org/drawingml/2006/main">
              <a:ext uri="{FF2B5EF4-FFF2-40B4-BE49-F238E27FC236}">
                <a16:creationId xmlns:a16="http://schemas.microsoft.com/office/drawing/2014/main" id="{F34BE320-6E00-4893-912E-D7D1AA5B0C03}"/>
              </a:ext>
            </a:extLst>
          </p:cNvPr>
          <p:cNvSpPr>
            <a:spLocks xmlns:a="http://schemas.openxmlformats.org/drawingml/2006/main" noGrp="1"/>
          </p:cNvSpPr>
          <p:nvPr/>
        </p:nvSpPr>
        <p:spPr>
          <a:xfrm xmlns:a="http://schemas.openxmlformats.org/drawingml/2006/main">
            <a:off x="3429000" y="2095500"/>
            <a:ext cx="809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FFFFF"/>
                </a:solidFill>
                <a:latin typeface="Segoe UI"/>
                <a:ea typeface="Segoe UI"/>
                <a:cs typeface="Segoe UI"/>
              </a:defRPr>
            </a:defPPr>
          </a:lstStyle>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Python uygulama mantığını, SQL veri işlemlerini yürütür.</a:t>
            </a:r>
          </a:p>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JSON veri aktarımında, XML Windows zamanlamasında kullanılır.</a:t>
            </a:r>
          </a:p>
        </p:txBody>
      </p:sp>
      <p:sp>
        <p:nvSpPr>
          <p:cNvPr id="5" name="">
            <a:extLst xmlns:a="http://schemas.openxmlformats.org/drawingml/2006/main">
              <a:ext uri="{FF2B5EF4-FFF2-40B4-BE49-F238E27FC236}">
                <a16:creationId xmlns:a16="http://schemas.microsoft.com/office/drawing/2014/main" id="{CC3919AF-61B9-408F-B82E-B0411ADF6315}"/>
              </a:ext>
            </a:extLst>
          </p:cNvPr>
          <p:cNvSpPr>
            <a:spLocks xmlns:a="http://schemas.openxmlformats.org/drawingml/2006/main" noGrp="1"/>
          </p:cNvSpPr>
          <p:nvPr/>
        </p:nvSpPr>
        <p:spPr>
          <a:xfrm xmlns:a="http://schemas.openxmlformats.org/drawingml/2006/main">
            <a:off x="609600" y="2886075"/>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87C6AD"/>
                </a:solidFill>
                <a:latin typeface="Segoe UI"/>
                <a:ea typeface="Segoe UI"/>
                <a:cs typeface="Segoe UI"/>
              </a:defRPr>
            </a:defPPr>
          </a:lstStyle>
          <a:p xmlns:a="http://schemas.openxmlformats.org/drawingml/2006/main">
            <a:pPr>
              <a:defRPr sz="2100" b="1">
                <a:solidFill>
                  <a:srgbClr val="87C6AD"/>
                </a:solidFill>
                <a:latin typeface="Segoe UI"/>
                <a:ea typeface="Segoe UI"/>
                <a:cs typeface="Segoe UI"/>
              </a:defRPr>
            </a:pPr>
            <a:r>
              <a:rPr sz="2100" b="1">
                <a:solidFill>
                  <a:srgbClr val="87C6AD"/>
                </a:solidFill>
                <a:latin typeface="Segoe UI"/>
                <a:ea typeface="Segoe UI"/>
                <a:cs typeface="Segoe UI"/>
              </a:rPr>
              <a:t>Masaüstü arayüz</a:t>
            </a:r>
          </a:p>
        </p:txBody>
      </p:sp>
      <p:sp>
        <p:nvSpPr>
          <p:cNvPr id="6" name="">
            <a:extLst xmlns:a="http://schemas.openxmlformats.org/drawingml/2006/main">
              <a:ext uri="{FF2B5EF4-FFF2-40B4-BE49-F238E27FC236}">
                <a16:creationId xmlns:a16="http://schemas.microsoft.com/office/drawing/2014/main" id="{E2A950B2-C0FF-4437-B119-FE48576317D0}"/>
              </a:ext>
            </a:extLst>
          </p:cNvPr>
          <p:cNvSpPr>
            <a:spLocks xmlns:a="http://schemas.openxmlformats.org/drawingml/2006/main" noGrp="1"/>
          </p:cNvSpPr>
          <p:nvPr/>
        </p:nvSpPr>
        <p:spPr>
          <a:xfrm xmlns:a="http://schemas.openxmlformats.org/drawingml/2006/main">
            <a:off x="3429000" y="2886075"/>
            <a:ext cx="809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FFFFF"/>
                </a:solidFill>
                <a:latin typeface="Segoe UI"/>
                <a:ea typeface="Segoe UI"/>
                <a:cs typeface="Segoe UI"/>
              </a:defRPr>
            </a:defPPr>
          </a:lstStyle>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PyQt6 ekranları oluşturur; QThread uzun işleri arka planda yürütür.</a:t>
            </a:r>
          </a:p>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QTimer zamanlamayı, QPainter çizimleri yönetir.</a:t>
            </a:r>
          </a:p>
        </p:txBody>
      </p:sp>
      <p:sp>
        <p:nvSpPr>
          <p:cNvPr id="7" name="">
            <a:extLst xmlns:a="http://schemas.openxmlformats.org/drawingml/2006/main">
              <a:ext uri="{FF2B5EF4-FFF2-40B4-BE49-F238E27FC236}">
                <a16:creationId xmlns:a16="http://schemas.microsoft.com/office/drawing/2014/main" id="{A838397E-A98C-44A1-92E4-4ED3F28C9376}"/>
              </a:ext>
            </a:extLst>
          </p:cNvPr>
          <p:cNvSpPr>
            <a:spLocks xmlns:a="http://schemas.openxmlformats.org/drawingml/2006/main" noGrp="1"/>
          </p:cNvSpPr>
          <p:nvPr/>
        </p:nvSpPr>
        <p:spPr>
          <a:xfrm xmlns:a="http://schemas.openxmlformats.org/drawingml/2006/main">
            <a:off x="609600" y="367665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87C6AD"/>
                </a:solidFill>
                <a:latin typeface="Segoe UI"/>
                <a:ea typeface="Segoe UI"/>
                <a:cs typeface="Segoe UI"/>
              </a:defRPr>
            </a:defPPr>
          </a:lstStyle>
          <a:p xmlns:a="http://schemas.openxmlformats.org/drawingml/2006/main">
            <a:pPr>
              <a:defRPr sz="2100" b="1">
                <a:solidFill>
                  <a:srgbClr val="87C6AD"/>
                </a:solidFill>
                <a:latin typeface="Segoe UI"/>
                <a:ea typeface="Segoe UI"/>
                <a:cs typeface="Segoe UI"/>
              </a:defRPr>
            </a:pPr>
            <a:r>
              <a:rPr sz="2100" b="1">
                <a:solidFill>
                  <a:srgbClr val="87C6AD"/>
                </a:solidFill>
                <a:latin typeface="Segoe UI"/>
                <a:ea typeface="Segoe UI"/>
                <a:cs typeface="Segoe UI"/>
              </a:rPr>
              <a:t>Yapay zekâ</a:t>
            </a:r>
          </a:p>
        </p:txBody>
      </p:sp>
      <p:sp>
        <p:nvSpPr>
          <p:cNvPr id="8" name="">
            <a:extLst xmlns:a="http://schemas.openxmlformats.org/drawingml/2006/main">
              <a:ext uri="{FF2B5EF4-FFF2-40B4-BE49-F238E27FC236}">
                <a16:creationId xmlns:a16="http://schemas.microsoft.com/office/drawing/2014/main" id="{4C7EF45E-6D86-4C79-B9E8-DEB96C36655C}"/>
              </a:ext>
            </a:extLst>
          </p:cNvPr>
          <p:cNvSpPr>
            <a:spLocks xmlns:a="http://schemas.openxmlformats.org/drawingml/2006/main" noGrp="1"/>
          </p:cNvSpPr>
          <p:nvPr/>
        </p:nvSpPr>
        <p:spPr>
          <a:xfrm xmlns:a="http://schemas.openxmlformats.org/drawingml/2006/main">
            <a:off x="3429000" y="3676650"/>
            <a:ext cx="809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FFFFF"/>
                </a:solidFill>
                <a:latin typeface="Segoe UI"/>
                <a:ea typeface="Segoe UI"/>
                <a:cs typeface="Segoe UI"/>
              </a:defRPr>
            </a:defPPr>
          </a:lstStyle>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google-genai ile Gemini’ye bağlanırız. Pydantic,</a:t>
            </a:r>
          </a:p>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üretilen soru ve çözümlerin veri yapısını kontrol eder.</a:t>
            </a:r>
          </a:p>
        </p:txBody>
      </p:sp>
      <p:sp>
        <p:nvSpPr>
          <p:cNvPr id="9" name="">
            <a:extLst xmlns:a="http://schemas.openxmlformats.org/drawingml/2006/main">
              <a:ext uri="{FF2B5EF4-FFF2-40B4-BE49-F238E27FC236}">
                <a16:creationId xmlns:a16="http://schemas.microsoft.com/office/drawing/2014/main" id="{14F50E0E-4763-4A7A-BA01-495853ACB82E}"/>
              </a:ext>
            </a:extLst>
          </p:cNvPr>
          <p:cNvSpPr>
            <a:spLocks xmlns:a="http://schemas.openxmlformats.org/drawingml/2006/main" noGrp="1"/>
          </p:cNvSpPr>
          <p:nvPr/>
        </p:nvSpPr>
        <p:spPr>
          <a:xfrm xmlns:a="http://schemas.openxmlformats.org/drawingml/2006/main">
            <a:off x="609600" y="4467225"/>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87C6AD"/>
                </a:solidFill>
                <a:latin typeface="Segoe UI"/>
                <a:ea typeface="Segoe UI"/>
                <a:cs typeface="Segoe UI"/>
              </a:defRPr>
            </a:defPPr>
          </a:lstStyle>
          <a:p xmlns:a="http://schemas.openxmlformats.org/drawingml/2006/main">
            <a:pPr>
              <a:defRPr sz="2100" b="1">
                <a:solidFill>
                  <a:srgbClr val="87C6AD"/>
                </a:solidFill>
                <a:latin typeface="Segoe UI"/>
                <a:ea typeface="Segoe UI"/>
                <a:cs typeface="Segoe UI"/>
              </a:defRPr>
            </a:pPr>
            <a:r>
              <a:rPr sz="2100" b="1">
                <a:solidFill>
                  <a:srgbClr val="87C6AD"/>
                </a:solidFill>
                <a:latin typeface="Segoe UI"/>
                <a:ea typeface="Segoe UI"/>
                <a:cs typeface="Segoe UI"/>
              </a:rPr>
              <a:t>Belge ve ses</a:t>
            </a:r>
          </a:p>
        </p:txBody>
      </p:sp>
      <p:sp>
        <p:nvSpPr>
          <p:cNvPr id="10" name="">
            <a:extLst xmlns:a="http://schemas.openxmlformats.org/drawingml/2006/main">
              <a:ext uri="{FF2B5EF4-FFF2-40B4-BE49-F238E27FC236}">
                <a16:creationId xmlns:a16="http://schemas.microsoft.com/office/drawing/2014/main" id="{D69409B4-9F1B-41FD-9525-5810D3257FE2}"/>
              </a:ext>
            </a:extLst>
          </p:cNvPr>
          <p:cNvSpPr>
            <a:spLocks xmlns:a="http://schemas.openxmlformats.org/drawingml/2006/main" noGrp="1"/>
          </p:cNvSpPr>
          <p:nvPr/>
        </p:nvSpPr>
        <p:spPr>
          <a:xfrm xmlns:a="http://schemas.openxmlformats.org/drawingml/2006/main">
            <a:off x="3429000" y="4467225"/>
            <a:ext cx="809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FFFFF"/>
                </a:solidFill>
                <a:latin typeface="Segoe UI"/>
                <a:ea typeface="Segoe UI"/>
                <a:cs typeface="Segoe UI"/>
              </a:defRPr>
            </a:defPPr>
          </a:lstStyle>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pypdf PDF metnini okur. Piper veya API sesi üretir;</a:t>
            </a:r>
          </a:p>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pygame hazırlanan sesi oynatır.</a:t>
            </a:r>
          </a:p>
        </p:txBody>
      </p:sp>
      <p:sp>
        <p:nvSpPr>
          <p:cNvPr id="11" name="">
            <a:extLst xmlns:a="http://schemas.openxmlformats.org/drawingml/2006/main">
              <a:ext uri="{FF2B5EF4-FFF2-40B4-BE49-F238E27FC236}">
                <a16:creationId xmlns:a16="http://schemas.microsoft.com/office/drawing/2014/main" id="{41850DD4-B542-4FA9-B032-1D120CE6FA4B}"/>
              </a:ext>
            </a:extLst>
          </p:cNvPr>
          <p:cNvSpPr>
            <a:spLocks xmlns:a="http://schemas.openxmlformats.org/drawingml/2006/main" noGrp="1"/>
          </p:cNvSpPr>
          <p:nvPr/>
        </p:nvSpPr>
        <p:spPr>
          <a:xfrm xmlns:a="http://schemas.openxmlformats.org/drawingml/2006/main">
            <a:off x="609600" y="52578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87C6AD"/>
                </a:solidFill>
                <a:latin typeface="Segoe UI"/>
                <a:ea typeface="Segoe UI"/>
                <a:cs typeface="Segoe UI"/>
              </a:defRPr>
            </a:defPPr>
          </a:lstStyle>
          <a:p xmlns:a="http://schemas.openxmlformats.org/drawingml/2006/main">
            <a:pPr>
              <a:defRPr sz="2100" b="1">
                <a:solidFill>
                  <a:srgbClr val="87C6AD"/>
                </a:solidFill>
                <a:latin typeface="Segoe UI"/>
                <a:ea typeface="Segoe UI"/>
                <a:cs typeface="Segoe UI"/>
              </a:defRPr>
            </a:pPr>
            <a:r>
              <a:rPr sz="2100" b="1">
                <a:solidFill>
                  <a:srgbClr val="87C6AD"/>
                </a:solidFill>
                <a:latin typeface="Segoe UI"/>
                <a:ea typeface="Segoe UI"/>
                <a:cs typeface="Segoe UI"/>
              </a:rPr>
              <a:t>Geliştirme</a:t>
            </a:r>
          </a:p>
        </p:txBody>
      </p:sp>
      <p:sp>
        <p:nvSpPr>
          <p:cNvPr id="12" name="">
            <a:extLst xmlns:a="http://schemas.openxmlformats.org/drawingml/2006/main">
              <a:ext uri="{FF2B5EF4-FFF2-40B4-BE49-F238E27FC236}">
                <a16:creationId xmlns:a16="http://schemas.microsoft.com/office/drawing/2014/main" id="{398D61BE-EB0D-45BE-B97C-030BCE53F793}"/>
              </a:ext>
            </a:extLst>
          </p:cNvPr>
          <p:cNvSpPr>
            <a:spLocks xmlns:a="http://schemas.openxmlformats.org/drawingml/2006/main" noGrp="1"/>
          </p:cNvSpPr>
          <p:nvPr/>
        </p:nvSpPr>
        <p:spPr>
          <a:xfrm xmlns:a="http://schemas.openxmlformats.org/drawingml/2006/main">
            <a:off x="3429000" y="5257800"/>
            <a:ext cx="809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FFFFF"/>
                </a:solidFill>
                <a:latin typeface="Segoe UI"/>
                <a:ea typeface="Segoe UI"/>
                <a:cs typeface="Segoe UI"/>
              </a:defRPr>
            </a:defPPr>
          </a:lstStyle>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VS Code ile kod geliştirir, Git / GitHub ile sürümleri izleriz.</a:t>
            </a:r>
          </a:p>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Python testleriyle önemli davranışları kontrol ederiz.</a:t>
            </a:r>
          </a:p>
        </p:txBody>
      </p:sp>
    </p:spTree>
    <p:extLst>
      <p:ext uri="{BB962C8B-B14F-4D97-AF65-F5344CB8AC3E}">
        <p14:creationId xmlns:p14="http://schemas.microsoft.com/office/powerpoint/2010/main" val="2031243547"/>
      </p:ext>
    </p:extLst>
  </p:cSld>
</p:sld>
</file>

<file path=ppt/slides/slide4.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7F6DAAB-558D-4E74-912A-5D66697A75D6}"/>
              </a:ext>
            </a:extLst>
          </p:cNvPr>
          <p:cNvSpPr>
            <a:spLocks xmlns:a="http://schemas.openxmlformats.org/drawingml/2006/main" noGrp="1"/>
          </p:cNvSpPr>
          <p:nvPr/>
        </p:nvSpPr>
        <p:spPr>
          <a:xfrm xmlns:a="http://schemas.openxmlformats.org/drawingml/2006/main">
            <a:off x="609600" y="285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B9C80"/>
                </a:solidFill>
                <a:latin typeface="Segoe UI"/>
                <a:ea typeface="Segoe UI"/>
                <a:cs typeface="Segoe UI"/>
              </a:defRPr>
            </a:defPPr>
          </a:lstStyle>
          <a:p xmlns:a="http://schemas.openxmlformats.org/drawingml/2006/main">
            <a:pPr>
              <a:defRPr sz="1200" b="1">
                <a:solidFill>
                  <a:srgbClr val="2B9C80"/>
                </a:solidFill>
                <a:latin typeface="Segoe UI"/>
                <a:ea typeface="Segoe UI"/>
                <a:cs typeface="Segoe UI"/>
              </a:defRPr>
            </a:pPr>
            <a:r>
              <a:rPr sz="1200" b="1">
                <a:solidFill>
                  <a:srgbClr val="2B9C80"/>
                </a:solidFill>
                <a:latin typeface="Segoe UI"/>
                <a:ea typeface="Segoe UI"/>
                <a:cs typeface="Segoe UI"/>
              </a:rPr>
              <a:t>ÖĞRENME MOLASI</a:t>
            </a:r>
          </a:p>
        </p:txBody>
      </p:sp>
      <p:sp>
        <p:nvSpPr>
          <p:cNvPr id="2" name="">
            <a:extLst xmlns:a="http://schemas.openxmlformats.org/drawingml/2006/main">
              <a:ext uri="{FF2B5EF4-FFF2-40B4-BE49-F238E27FC236}">
                <a16:creationId xmlns:a16="http://schemas.microsoft.com/office/drawing/2014/main" id="{65A46093-34BA-4726-BF94-CF8F249F667E}"/>
              </a:ext>
            </a:extLst>
          </p:cNvPr>
          <p:cNvSpPr>
            <a:spLocks xmlns:a="http://schemas.openxmlformats.org/drawingml/2006/main" noGrp="1"/>
          </p:cNvSpPr>
          <p:nvPr/>
        </p:nvSpPr>
        <p:spPr>
          <a:xfrm xmlns:a="http://schemas.openxmlformats.org/drawingml/2006/main">
            <a:off x="609600" y="857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2B3C"/>
                </a:solidFill>
                <a:latin typeface="Segoe UI"/>
                <a:ea typeface="Segoe UI"/>
                <a:cs typeface="Segoe UI"/>
              </a:defRPr>
            </a:defPPr>
          </a:lstStyle>
          <a:p xmlns:a="http://schemas.openxmlformats.org/drawingml/2006/main">
            <a:pPr>
              <a:defRPr sz="3300" b="1">
                <a:solidFill>
                  <a:srgbClr val="152B3C"/>
                </a:solidFill>
                <a:latin typeface="Segoe UI"/>
                <a:ea typeface="Segoe UI"/>
                <a:cs typeface="Segoe UI"/>
              </a:defRPr>
            </a:pPr>
            <a:r>
              <a:rPr sz="3300" b="1">
                <a:solidFill>
                  <a:srgbClr val="152B3C"/>
                </a:solidFill>
                <a:latin typeface="Segoe UI"/>
                <a:ea typeface="Segoe UI"/>
                <a:cs typeface="Segoe UI"/>
              </a:rPr>
              <a:t>Yazılım mimarisi ve iş parçacıkları</a:t>
            </a:r>
          </a:p>
        </p:txBody>
      </p:sp>
      <p:sp>
        <p:nvSpPr>
          <p:cNvPr id="3" name="">
            <a:extLst xmlns:a="http://schemas.openxmlformats.org/drawingml/2006/main">
              <a:ext uri="{FF2B5EF4-FFF2-40B4-BE49-F238E27FC236}">
                <a16:creationId xmlns:a16="http://schemas.microsoft.com/office/drawing/2014/main" id="{83DF9C8D-0111-4042-AD44-7F8974A2299F}"/>
              </a:ext>
            </a:extLst>
          </p:cNvPr>
          <p:cNvSpPr>
            <a:spLocks xmlns:a="http://schemas.openxmlformats.org/drawingml/2006/main" noGrp="1"/>
          </p:cNvSpPr>
          <p:nvPr/>
        </p:nvSpPr>
        <p:spPr>
          <a:xfrm xmlns:a="http://schemas.openxmlformats.org/drawingml/2006/main">
            <a:off x="609600" y="2286000"/>
            <a:ext cx="3143250" cy="1476375"/>
          </a:xfrm>
          <a:prstGeom xmlns:a="http://schemas.openxmlformats.org/drawingml/2006/main" prst="rect">
            <a:avLst/>
          </a:prstGeom>
          <a:solidFill xmlns:a="http://schemas.openxmlformats.org/drawingml/2006/main">
            <a:srgbClr val="E8E4F5"/>
          </a:solidFill>
          <a:ln xmlns:a="http://schemas.openxmlformats.org/drawingml/2006/main" w="9525">
            <a:solidFill>
              <a:srgbClr val="7352C7"/>
            </a:solidFill>
          </a:ln>
        </p:spPr>
      </p:sp>
      <p:sp>
        <p:nvSpPr>
          <p:cNvPr id="4" name="">
            <a:extLst xmlns:a="http://schemas.openxmlformats.org/drawingml/2006/main">
              <a:ext uri="{FF2B5EF4-FFF2-40B4-BE49-F238E27FC236}">
                <a16:creationId xmlns:a16="http://schemas.microsoft.com/office/drawing/2014/main" id="{9D958C2F-B962-44BD-AFDE-17B7E49F0E2E}"/>
              </a:ext>
            </a:extLst>
          </p:cNvPr>
          <p:cNvSpPr>
            <a:spLocks xmlns:a="http://schemas.openxmlformats.org/drawingml/2006/main" noGrp="1"/>
          </p:cNvSpPr>
          <p:nvPr/>
        </p:nvSpPr>
        <p:spPr>
          <a:xfrm xmlns:a="http://schemas.openxmlformats.org/drawingml/2006/main">
            <a:off x="781050" y="2428875"/>
            <a:ext cx="2800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52B3C"/>
                </a:solidFill>
                <a:latin typeface="Segoe UI"/>
                <a:ea typeface="Segoe UI"/>
                <a:cs typeface="Segoe UI"/>
              </a:defRPr>
            </a:defPPr>
          </a:lstStyle>
          <a:p xmlns:a="http://schemas.openxmlformats.org/drawingml/2006/main">
            <a:pPr>
              <a:defRPr sz="2025" b="1">
                <a:solidFill>
                  <a:srgbClr val="152B3C"/>
                </a:solidFill>
                <a:latin typeface="Segoe UI"/>
                <a:ea typeface="Segoe UI"/>
                <a:cs typeface="Segoe UI"/>
              </a:defRPr>
            </a:pPr>
            <a:r>
              <a:rPr sz="2025" b="1">
                <a:solidFill>
                  <a:srgbClr val="152B3C"/>
                </a:solidFill>
                <a:latin typeface="Segoe UI"/>
                <a:ea typeface="Segoe UI"/>
                <a:cs typeface="Segoe UI"/>
              </a:rPr>
              <a:t>PyQt6 arayüz</a:t>
            </a:r>
          </a:p>
        </p:txBody>
      </p:sp>
      <p:sp>
        <p:nvSpPr>
          <p:cNvPr id="5" name="">
            <a:extLst xmlns:a="http://schemas.openxmlformats.org/drawingml/2006/main">
              <a:ext uri="{FF2B5EF4-FFF2-40B4-BE49-F238E27FC236}">
                <a16:creationId xmlns:a16="http://schemas.microsoft.com/office/drawing/2014/main" id="{3BE5750F-A684-49E7-8ADE-BBA0F9C271A0}"/>
              </a:ext>
            </a:extLst>
          </p:cNvPr>
          <p:cNvSpPr>
            <a:spLocks xmlns:a="http://schemas.openxmlformats.org/drawingml/2006/main" noGrp="1"/>
          </p:cNvSpPr>
          <p:nvPr/>
        </p:nvSpPr>
        <p:spPr>
          <a:xfrm xmlns:a="http://schemas.openxmlformats.org/drawingml/2006/main">
            <a:off x="781050" y="2971800"/>
            <a:ext cx="2800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52B3C"/>
                </a:solidFill>
                <a:latin typeface="Segoe UI"/>
                <a:ea typeface="Segoe UI"/>
                <a:cs typeface="Segoe UI"/>
              </a:defRPr>
            </a:defPPr>
          </a:lstStyle>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Öğrencinin tıklama ve</a:t>
            </a:r>
          </a:p>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yazma işlemlerini yönetir.</a:t>
            </a:r>
          </a:p>
        </p:txBody>
      </p:sp>
      <p:sp>
        <p:nvSpPr>
          <p:cNvPr id="6" name="">
            <a:extLst xmlns:a="http://schemas.openxmlformats.org/drawingml/2006/main">
              <a:ext uri="{FF2B5EF4-FFF2-40B4-BE49-F238E27FC236}">
                <a16:creationId xmlns:a16="http://schemas.microsoft.com/office/drawing/2014/main" id="{7CB49EF4-0463-45EF-BC96-A6987039D86F}"/>
              </a:ext>
            </a:extLst>
          </p:cNvPr>
          <p:cNvSpPr>
            <a:spLocks xmlns:a="http://schemas.openxmlformats.org/drawingml/2006/main" noGrp="1"/>
          </p:cNvSpPr>
          <p:nvPr/>
        </p:nvSpPr>
        <p:spPr>
          <a:xfrm xmlns:a="http://schemas.openxmlformats.org/drawingml/2006/main">
            <a:off x="3905250" y="2857500"/>
            <a:ext cx="428625" cy="238125"/>
          </a:xfrm>
          <a:prstGeom xmlns:a="http://schemas.openxmlformats.org/drawingml/2006/main" prst="rightArrow">
            <a:avLst/>
          </a:prstGeom>
          <a:solidFill xmlns:a="http://schemas.openxmlformats.org/drawingml/2006/main">
            <a:srgbClr val="2B9C8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B0C26D5-6ABE-4794-A93B-9F4ABD4BC071}"/>
              </a:ext>
            </a:extLst>
          </p:cNvPr>
          <p:cNvSpPr>
            <a:spLocks xmlns:a="http://schemas.openxmlformats.org/drawingml/2006/main" noGrp="1"/>
          </p:cNvSpPr>
          <p:nvPr/>
        </p:nvSpPr>
        <p:spPr>
          <a:xfrm xmlns:a="http://schemas.openxmlformats.org/drawingml/2006/main">
            <a:off x="4476750" y="2286000"/>
            <a:ext cx="3143250" cy="1476375"/>
          </a:xfrm>
          <a:prstGeom xmlns:a="http://schemas.openxmlformats.org/drawingml/2006/main" prst="rect">
            <a:avLst/>
          </a:prstGeom>
          <a:solidFill xmlns:a="http://schemas.openxmlformats.org/drawingml/2006/main">
            <a:srgbClr val="E8E4F5"/>
          </a:solidFill>
          <a:ln xmlns:a="http://schemas.openxmlformats.org/drawingml/2006/main" w="9525">
            <a:solidFill>
              <a:srgbClr val="7352C7"/>
            </a:solidFill>
          </a:ln>
        </p:spPr>
      </p:sp>
      <p:sp>
        <p:nvSpPr>
          <p:cNvPr id="8" name="">
            <a:extLst xmlns:a="http://schemas.openxmlformats.org/drawingml/2006/main">
              <a:ext uri="{FF2B5EF4-FFF2-40B4-BE49-F238E27FC236}">
                <a16:creationId xmlns:a16="http://schemas.microsoft.com/office/drawing/2014/main" id="{826B142A-FD55-41FA-836E-2A742D2937D0}"/>
              </a:ext>
            </a:extLst>
          </p:cNvPr>
          <p:cNvSpPr>
            <a:spLocks xmlns:a="http://schemas.openxmlformats.org/drawingml/2006/main" noGrp="1"/>
          </p:cNvSpPr>
          <p:nvPr/>
        </p:nvSpPr>
        <p:spPr>
          <a:xfrm xmlns:a="http://schemas.openxmlformats.org/drawingml/2006/main">
            <a:off x="4648200" y="2428875"/>
            <a:ext cx="2800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52B3C"/>
                </a:solidFill>
                <a:latin typeface="Segoe UI"/>
                <a:ea typeface="Segoe UI"/>
                <a:cs typeface="Segoe UI"/>
              </a:defRPr>
            </a:defPPr>
          </a:lstStyle>
          <a:p xmlns:a="http://schemas.openxmlformats.org/drawingml/2006/main">
            <a:pPr>
              <a:defRPr sz="2025" b="1">
                <a:solidFill>
                  <a:srgbClr val="152B3C"/>
                </a:solidFill>
                <a:latin typeface="Segoe UI"/>
                <a:ea typeface="Segoe UI"/>
                <a:cs typeface="Segoe UI"/>
              </a:defRPr>
            </a:pPr>
            <a:r>
              <a:rPr sz="2025" b="1">
                <a:solidFill>
                  <a:srgbClr val="152B3C"/>
                </a:solidFill>
                <a:latin typeface="Segoe UI"/>
                <a:ea typeface="Segoe UI"/>
                <a:cs typeface="Segoe UI"/>
              </a:rPr>
              <a:t>Python iş mantığı</a:t>
            </a:r>
          </a:p>
        </p:txBody>
      </p:sp>
      <p:sp>
        <p:nvSpPr>
          <p:cNvPr id="9" name="">
            <a:extLst xmlns:a="http://schemas.openxmlformats.org/drawingml/2006/main">
              <a:ext uri="{FF2B5EF4-FFF2-40B4-BE49-F238E27FC236}">
                <a16:creationId xmlns:a16="http://schemas.microsoft.com/office/drawing/2014/main" id="{6355B976-B934-4FFC-BD72-0397FFDA41E2}"/>
              </a:ext>
            </a:extLst>
          </p:cNvPr>
          <p:cNvSpPr>
            <a:spLocks xmlns:a="http://schemas.openxmlformats.org/drawingml/2006/main" noGrp="1"/>
          </p:cNvSpPr>
          <p:nvPr/>
        </p:nvSpPr>
        <p:spPr>
          <a:xfrm xmlns:a="http://schemas.openxmlformats.org/drawingml/2006/main">
            <a:off x="4648200" y="2971800"/>
            <a:ext cx="2800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52B3C"/>
                </a:solidFill>
                <a:latin typeface="Segoe UI"/>
                <a:ea typeface="Segoe UI"/>
                <a:cs typeface="Segoe UI"/>
              </a:defRPr>
            </a:defPPr>
          </a:lstStyle>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Soruları, hesapları ve</a:t>
            </a:r>
          </a:p>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ilerleme hesabını yönetir.</a:t>
            </a:r>
          </a:p>
        </p:txBody>
      </p:sp>
      <p:sp>
        <p:nvSpPr>
          <p:cNvPr id="10" name="">
            <a:extLst xmlns:a="http://schemas.openxmlformats.org/drawingml/2006/main">
              <a:ext uri="{FF2B5EF4-FFF2-40B4-BE49-F238E27FC236}">
                <a16:creationId xmlns:a16="http://schemas.microsoft.com/office/drawing/2014/main" id="{EF30616B-A315-47E4-A652-47DFDD59B3C9}"/>
              </a:ext>
            </a:extLst>
          </p:cNvPr>
          <p:cNvSpPr>
            <a:spLocks xmlns:a="http://schemas.openxmlformats.org/drawingml/2006/main" noGrp="1"/>
          </p:cNvSpPr>
          <p:nvPr/>
        </p:nvSpPr>
        <p:spPr>
          <a:xfrm xmlns:a="http://schemas.openxmlformats.org/drawingml/2006/main">
            <a:off x="7772400" y="2857500"/>
            <a:ext cx="428625" cy="238125"/>
          </a:xfrm>
          <a:prstGeom xmlns:a="http://schemas.openxmlformats.org/drawingml/2006/main" prst="rightArrow">
            <a:avLst/>
          </a:prstGeom>
          <a:solidFill xmlns:a="http://schemas.openxmlformats.org/drawingml/2006/main">
            <a:srgbClr val="2B9C8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21A9F3B-C0DF-4C75-BE0A-D414DF1EB9AE}"/>
              </a:ext>
            </a:extLst>
          </p:cNvPr>
          <p:cNvSpPr>
            <a:spLocks xmlns:a="http://schemas.openxmlformats.org/drawingml/2006/main" noGrp="1"/>
          </p:cNvSpPr>
          <p:nvPr/>
        </p:nvSpPr>
        <p:spPr>
          <a:xfrm xmlns:a="http://schemas.openxmlformats.org/drawingml/2006/main">
            <a:off x="8343900" y="2286000"/>
            <a:ext cx="3143250" cy="1476375"/>
          </a:xfrm>
          <a:prstGeom xmlns:a="http://schemas.openxmlformats.org/drawingml/2006/main" prst="rect">
            <a:avLst/>
          </a:prstGeom>
          <a:solidFill xmlns:a="http://schemas.openxmlformats.org/drawingml/2006/main">
            <a:srgbClr val="DDECE5"/>
          </a:solidFill>
          <a:ln xmlns:a="http://schemas.openxmlformats.org/drawingml/2006/main" w="9525">
            <a:solidFill>
              <a:srgbClr val="7352C7"/>
            </a:solidFill>
          </a:ln>
        </p:spPr>
      </p:sp>
      <p:sp>
        <p:nvSpPr>
          <p:cNvPr id="12" name="">
            <a:extLst xmlns:a="http://schemas.openxmlformats.org/drawingml/2006/main">
              <a:ext uri="{FF2B5EF4-FFF2-40B4-BE49-F238E27FC236}">
                <a16:creationId xmlns:a16="http://schemas.microsoft.com/office/drawing/2014/main" id="{A70539DD-43B9-413C-A14B-7FAD2DA21B49}"/>
              </a:ext>
            </a:extLst>
          </p:cNvPr>
          <p:cNvSpPr>
            <a:spLocks xmlns:a="http://schemas.openxmlformats.org/drawingml/2006/main" noGrp="1"/>
          </p:cNvSpPr>
          <p:nvPr/>
        </p:nvSpPr>
        <p:spPr>
          <a:xfrm xmlns:a="http://schemas.openxmlformats.org/drawingml/2006/main">
            <a:off x="8515350" y="2428875"/>
            <a:ext cx="2800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52B3C"/>
                </a:solidFill>
                <a:latin typeface="Segoe UI"/>
                <a:ea typeface="Segoe UI"/>
                <a:cs typeface="Segoe UI"/>
              </a:defRPr>
            </a:defPPr>
          </a:lstStyle>
          <a:p xmlns:a="http://schemas.openxmlformats.org/drawingml/2006/main">
            <a:pPr>
              <a:defRPr sz="2025" b="1">
                <a:solidFill>
                  <a:srgbClr val="152B3C"/>
                </a:solidFill>
                <a:latin typeface="Segoe UI"/>
                <a:ea typeface="Segoe UI"/>
                <a:cs typeface="Segoe UI"/>
              </a:defRPr>
            </a:pPr>
            <a:r>
              <a:rPr sz="2025" b="1">
                <a:solidFill>
                  <a:srgbClr val="152B3C"/>
                </a:solidFill>
                <a:latin typeface="Segoe UI"/>
                <a:ea typeface="Segoe UI"/>
                <a:cs typeface="Segoe UI"/>
              </a:rPr>
              <a:t>SQLite</a:t>
            </a:r>
          </a:p>
        </p:txBody>
      </p:sp>
      <p:sp>
        <p:nvSpPr>
          <p:cNvPr id="13" name="">
            <a:extLst xmlns:a="http://schemas.openxmlformats.org/drawingml/2006/main">
              <a:ext uri="{FF2B5EF4-FFF2-40B4-BE49-F238E27FC236}">
                <a16:creationId xmlns:a16="http://schemas.microsoft.com/office/drawing/2014/main" id="{0D95CF52-98EE-4819-A6C4-9B4BA8A2171C}"/>
              </a:ext>
            </a:extLst>
          </p:cNvPr>
          <p:cNvSpPr>
            <a:spLocks xmlns:a="http://schemas.openxmlformats.org/drawingml/2006/main" noGrp="1"/>
          </p:cNvSpPr>
          <p:nvPr/>
        </p:nvSpPr>
        <p:spPr>
          <a:xfrm xmlns:a="http://schemas.openxmlformats.org/drawingml/2006/main">
            <a:off x="8515350" y="2971800"/>
            <a:ext cx="2800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52B3C"/>
                </a:solidFill>
                <a:latin typeface="Segoe UI"/>
                <a:ea typeface="Segoe UI"/>
                <a:cs typeface="Segoe UI"/>
              </a:defRPr>
            </a:defPPr>
          </a:lstStyle>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Hesapları, görevleri ve</a:t>
            </a:r>
          </a:p>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cevap geçmişini saklar.</a:t>
            </a:r>
          </a:p>
        </p:txBody>
      </p:sp>
      <p:sp>
        <p:nvSpPr>
          <p:cNvPr id="14" name="">
            <a:extLst xmlns:a="http://schemas.openxmlformats.org/drawingml/2006/main">
              <a:ext uri="{FF2B5EF4-FFF2-40B4-BE49-F238E27FC236}">
                <a16:creationId xmlns:a16="http://schemas.microsoft.com/office/drawing/2014/main" id="{AA56D474-93DD-4522-BEC3-8C8859A73912}"/>
              </a:ext>
            </a:extLst>
          </p:cNvPr>
          <p:cNvSpPr>
            <a:spLocks xmlns:a="http://schemas.openxmlformats.org/drawingml/2006/main" noGrp="1"/>
          </p:cNvSpPr>
          <p:nvPr/>
        </p:nvSpPr>
        <p:spPr>
          <a:xfrm xmlns:a="http://schemas.openxmlformats.org/drawingml/2006/main">
            <a:off x="4476750" y="4333875"/>
            <a:ext cx="3143250" cy="1476375"/>
          </a:xfrm>
          <a:prstGeom xmlns:a="http://schemas.openxmlformats.org/drawingml/2006/main" prst="rect">
            <a:avLst/>
          </a:prstGeom>
          <a:solidFill xmlns:a="http://schemas.openxmlformats.org/drawingml/2006/main">
            <a:srgbClr val="DDECE5"/>
          </a:solidFill>
          <a:ln xmlns:a="http://schemas.openxmlformats.org/drawingml/2006/main" w="9525">
            <a:solidFill>
              <a:srgbClr val="7352C7"/>
            </a:solidFill>
          </a:ln>
        </p:spPr>
      </p:sp>
      <p:sp>
        <p:nvSpPr>
          <p:cNvPr id="15" name="">
            <a:extLst xmlns:a="http://schemas.openxmlformats.org/drawingml/2006/main">
              <a:ext uri="{FF2B5EF4-FFF2-40B4-BE49-F238E27FC236}">
                <a16:creationId xmlns:a16="http://schemas.microsoft.com/office/drawing/2014/main" id="{0F663B5F-3B73-469C-8B7B-92522775E120}"/>
              </a:ext>
            </a:extLst>
          </p:cNvPr>
          <p:cNvSpPr>
            <a:spLocks xmlns:a="http://schemas.openxmlformats.org/drawingml/2006/main" noGrp="1"/>
          </p:cNvSpPr>
          <p:nvPr/>
        </p:nvSpPr>
        <p:spPr>
          <a:xfrm xmlns:a="http://schemas.openxmlformats.org/drawingml/2006/main">
            <a:off x="4648200" y="4476750"/>
            <a:ext cx="2800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52B3C"/>
                </a:solidFill>
                <a:latin typeface="Segoe UI"/>
                <a:ea typeface="Segoe UI"/>
                <a:cs typeface="Segoe UI"/>
              </a:defRPr>
            </a:defPPr>
          </a:lstStyle>
          <a:p xmlns:a="http://schemas.openxmlformats.org/drawingml/2006/main">
            <a:pPr>
              <a:defRPr sz="2025" b="1">
                <a:solidFill>
                  <a:srgbClr val="152B3C"/>
                </a:solidFill>
                <a:latin typeface="Segoe UI"/>
                <a:ea typeface="Segoe UI"/>
                <a:cs typeface="Segoe UI"/>
              </a:defRPr>
            </a:pPr>
            <a:r>
              <a:rPr sz="2025" b="1">
                <a:solidFill>
                  <a:srgbClr val="152B3C"/>
                </a:solidFill>
                <a:latin typeface="Segoe UI"/>
                <a:ea typeface="Segoe UI"/>
                <a:cs typeface="Segoe UI"/>
              </a:rPr>
              <a:t>QThread işçisi</a:t>
            </a:r>
          </a:p>
        </p:txBody>
      </p:sp>
      <p:sp>
        <p:nvSpPr>
          <p:cNvPr id="16" name="">
            <a:extLst xmlns:a="http://schemas.openxmlformats.org/drawingml/2006/main">
              <a:ext uri="{FF2B5EF4-FFF2-40B4-BE49-F238E27FC236}">
                <a16:creationId xmlns:a16="http://schemas.microsoft.com/office/drawing/2014/main" id="{DF0D42F3-F55F-4447-95DE-4DB00FD336AE}"/>
              </a:ext>
            </a:extLst>
          </p:cNvPr>
          <p:cNvSpPr>
            <a:spLocks xmlns:a="http://schemas.openxmlformats.org/drawingml/2006/main" noGrp="1"/>
          </p:cNvSpPr>
          <p:nvPr/>
        </p:nvSpPr>
        <p:spPr>
          <a:xfrm xmlns:a="http://schemas.openxmlformats.org/drawingml/2006/main">
            <a:off x="4648200" y="5019675"/>
            <a:ext cx="2800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52B3C"/>
                </a:solidFill>
                <a:latin typeface="Segoe UI"/>
                <a:ea typeface="Segoe UI"/>
                <a:cs typeface="Segoe UI"/>
              </a:defRPr>
            </a:defPPr>
          </a:lstStyle>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Gemini isteğini ayrı bir</a:t>
            </a:r>
          </a:p>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iş parçacığında yürütür.</a:t>
            </a:r>
          </a:p>
        </p:txBody>
      </p:sp>
      <p:sp>
        <p:nvSpPr>
          <p:cNvPr id="17" name="">
            <a:extLst xmlns:a="http://schemas.openxmlformats.org/drawingml/2006/main">
              <a:ext uri="{FF2B5EF4-FFF2-40B4-BE49-F238E27FC236}">
                <a16:creationId xmlns:a16="http://schemas.microsoft.com/office/drawing/2014/main" id="{4673AEEF-4E49-4575-B0D3-F7ED3E1818D6}"/>
              </a:ext>
            </a:extLst>
          </p:cNvPr>
          <p:cNvSpPr>
            <a:spLocks xmlns:a="http://schemas.openxmlformats.org/drawingml/2006/main" noGrp="1"/>
          </p:cNvSpPr>
          <p:nvPr/>
        </p:nvSpPr>
        <p:spPr>
          <a:xfrm xmlns:a="http://schemas.openxmlformats.org/drawingml/2006/main">
            <a:off x="609600" y="46196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352C7"/>
                </a:solidFill>
                <a:latin typeface="Segoe UI"/>
                <a:ea typeface="Segoe UI"/>
                <a:cs typeface="Segoe UI"/>
              </a:defRPr>
            </a:defPPr>
          </a:lstStyle>
          <a:p xmlns:a="http://schemas.openxmlformats.org/drawingml/2006/main">
            <a:pPr>
              <a:defRPr sz="1875" b="1">
                <a:solidFill>
                  <a:srgbClr val="7352C7"/>
                </a:solidFill>
                <a:latin typeface="Segoe UI"/>
                <a:ea typeface="Segoe UI"/>
                <a:cs typeface="Segoe UI"/>
              </a:defRPr>
            </a:pPr>
            <a:r>
              <a:rPr sz="1875" b="1">
                <a:solidFill>
                  <a:srgbClr val="7352C7"/>
                </a:solidFill>
                <a:latin typeface="Segoe UI"/>
                <a:ea typeface="Segoe UI"/>
                <a:cs typeface="Segoe UI"/>
              </a:rPr>
              <a:t>İş tamamlanınca sonuç veya</a:t>
            </a:r>
          </a:p>
          <a:p xmlns:a="http://schemas.openxmlformats.org/drawingml/2006/main">
            <a:pPr>
              <a:defRPr sz="1875" b="1">
                <a:solidFill>
                  <a:srgbClr val="7352C7"/>
                </a:solidFill>
                <a:latin typeface="Segoe UI"/>
                <a:ea typeface="Segoe UI"/>
                <a:cs typeface="Segoe UI"/>
              </a:defRPr>
            </a:pPr>
            <a:r>
              <a:rPr sz="1875" b="1">
                <a:solidFill>
                  <a:srgbClr val="7352C7"/>
                </a:solidFill>
                <a:latin typeface="Segoe UI"/>
                <a:ea typeface="Segoe UI"/>
                <a:cs typeface="Segoe UI"/>
              </a:rPr>
              <a:t>hata arayüze bildirilir.</a:t>
            </a:r>
          </a:p>
        </p:txBody>
      </p:sp>
      <p:sp>
        <p:nvSpPr>
          <p:cNvPr id="18" name="">
            <a:extLst xmlns:a="http://schemas.openxmlformats.org/drawingml/2006/main">
              <a:ext uri="{FF2B5EF4-FFF2-40B4-BE49-F238E27FC236}">
                <a16:creationId xmlns:a16="http://schemas.microsoft.com/office/drawing/2014/main" id="{A614BF06-E3EE-446B-9E8B-DD9D5D34D0FA}"/>
              </a:ext>
            </a:extLst>
          </p:cNvPr>
          <p:cNvSpPr>
            <a:spLocks xmlns:a="http://schemas.openxmlformats.org/drawingml/2006/main" noGrp="1"/>
          </p:cNvSpPr>
          <p:nvPr/>
        </p:nvSpPr>
        <p:spPr>
          <a:xfrm xmlns:a="http://schemas.openxmlformats.org/drawingml/2006/main">
            <a:off x="8343900" y="46196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2B3C"/>
                </a:solidFill>
                <a:latin typeface="Segoe UI"/>
                <a:ea typeface="Segoe UI"/>
                <a:cs typeface="Segoe UI"/>
              </a:defRPr>
            </a:defPPr>
          </a:lstStyle>
          <a:p xmlns:a="http://schemas.openxmlformats.org/drawingml/2006/main">
            <a:pPr>
              <a:defRPr sz="1875" b="0">
                <a:solidFill>
                  <a:srgbClr val="152B3C"/>
                </a:solidFill>
                <a:latin typeface="Segoe UI"/>
                <a:ea typeface="Segoe UI"/>
                <a:cs typeface="Segoe UI"/>
              </a:defRPr>
            </a:pPr>
            <a:r>
              <a:rPr sz="1875" b="0">
                <a:solidFill>
                  <a:srgbClr val="152B3C"/>
                </a:solidFill>
                <a:latin typeface="Segoe UI"/>
                <a:ea typeface="Segoe UI"/>
                <a:cs typeface="Segoe UI"/>
              </a:rPr>
              <a:t>Ağ isteği sırasında</a:t>
            </a:r>
          </a:p>
          <a:p xmlns:a="http://schemas.openxmlformats.org/drawingml/2006/main">
            <a:pPr>
              <a:defRPr sz="1875" b="0">
                <a:solidFill>
                  <a:srgbClr val="152B3C"/>
                </a:solidFill>
                <a:latin typeface="Segoe UI"/>
                <a:ea typeface="Segoe UI"/>
                <a:cs typeface="Segoe UI"/>
              </a:defRPr>
            </a:pPr>
            <a:r>
              <a:rPr sz="1875" b="0">
                <a:solidFill>
                  <a:srgbClr val="152B3C"/>
                </a:solidFill>
                <a:latin typeface="Segoe UI"/>
                <a:ea typeface="Segoe UI"/>
                <a:cs typeface="Segoe UI"/>
              </a:rPr>
              <a:t>arayüz çalışmaya devam eder.</a:t>
            </a:r>
          </a:p>
        </p:txBody>
      </p:sp>
      <p:sp>
        <p:nvSpPr>
          <p:cNvPr id="19" name="">
            <a:extLst xmlns:a="http://schemas.openxmlformats.org/drawingml/2006/main">
              <a:ext uri="{FF2B5EF4-FFF2-40B4-BE49-F238E27FC236}">
                <a16:creationId xmlns:a16="http://schemas.microsoft.com/office/drawing/2014/main" id="{50EC8EE0-CC31-4EDE-AD46-461CBA0BC976}"/>
              </a:ext>
            </a:extLst>
          </p:cNvPr>
          <p:cNvSpPr>
            <a:spLocks xmlns:a="http://schemas.openxmlformats.org/drawingml/2006/main" noGrp="1"/>
          </p:cNvSpPr>
          <p:nvPr/>
        </p:nvSpPr>
        <p:spPr>
          <a:xfrm xmlns:a="http://schemas.openxmlformats.org/drawingml/2006/main">
            <a:off x="609600" y="6191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6747E"/>
                </a:solidFill>
                <a:latin typeface="Segoe UI"/>
                <a:ea typeface="Segoe UI"/>
                <a:cs typeface="Segoe UI"/>
              </a:defRPr>
            </a:defPPr>
          </a:lstStyle>
          <a:p xmlns:a="http://schemas.openxmlformats.org/drawingml/2006/main">
            <a:pPr>
              <a:defRPr sz="1500" b="0">
                <a:solidFill>
                  <a:srgbClr val="66747E"/>
                </a:solidFill>
                <a:latin typeface="Segoe UI"/>
                <a:ea typeface="Segoe UI"/>
                <a:cs typeface="Segoe UI"/>
              </a:defRPr>
            </a:pPr>
            <a:r>
              <a:rPr sz="1500" b="0">
                <a:solidFill>
                  <a:srgbClr val="66747E"/>
                </a:solidFill>
                <a:latin typeface="Segoe UI"/>
                <a:ea typeface="Segoe UI"/>
                <a:cs typeface="Segoe UI"/>
              </a:rPr>
              <a:t>Yerel Windows prototipi. Merkezi sunucu ve cihazlar arası eşitleme henüz yok.</a:t>
            </a:r>
          </a:p>
        </p:txBody>
      </p:sp>
    </p:spTree>
    <p:extLst>
      <p:ext uri="{BB962C8B-B14F-4D97-AF65-F5344CB8AC3E}">
        <p14:creationId xmlns:p14="http://schemas.microsoft.com/office/powerpoint/2010/main" val="879662159"/>
      </p:ext>
    </p:extLst>
  </p:cSld>
</p:sld>
</file>

<file path=ppt/slides/slide5.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C14BFF-AB6C-4109-BBDB-DE3392662B26}"/>
              </a:ext>
            </a:extLst>
          </p:cNvPr>
          <p:cNvSpPr>
            <a:spLocks xmlns:a="http://schemas.openxmlformats.org/drawingml/2006/main" noGrp="1"/>
          </p:cNvSpPr>
          <p:nvPr/>
        </p:nvSpPr>
        <p:spPr>
          <a:xfrm xmlns:a="http://schemas.openxmlformats.org/drawingml/2006/main">
            <a:off x="609600" y="285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B9C80"/>
                </a:solidFill>
                <a:latin typeface="Segoe UI"/>
                <a:ea typeface="Segoe UI"/>
                <a:cs typeface="Segoe UI"/>
              </a:defRPr>
            </a:defPPr>
          </a:lstStyle>
          <a:p xmlns:a="http://schemas.openxmlformats.org/drawingml/2006/main">
            <a:pPr>
              <a:defRPr sz="1200" b="1">
                <a:solidFill>
                  <a:srgbClr val="2B9C80"/>
                </a:solidFill>
                <a:latin typeface="Segoe UI"/>
                <a:ea typeface="Segoe UI"/>
                <a:cs typeface="Segoe UI"/>
              </a:defRPr>
            </a:pPr>
            <a:r>
              <a:rPr sz="1200" b="1">
                <a:solidFill>
                  <a:srgbClr val="2B9C80"/>
                </a:solidFill>
                <a:latin typeface="Segoe UI"/>
                <a:ea typeface="Segoe UI"/>
                <a:cs typeface="Segoe UI"/>
              </a:rPr>
              <a:t>ÖĞRENME MOLASI</a:t>
            </a:r>
          </a:p>
        </p:txBody>
      </p:sp>
      <p:sp>
        <p:nvSpPr>
          <p:cNvPr id="2" name="">
            <a:extLst xmlns:a="http://schemas.openxmlformats.org/drawingml/2006/main">
              <a:ext uri="{FF2B5EF4-FFF2-40B4-BE49-F238E27FC236}">
                <a16:creationId xmlns:a16="http://schemas.microsoft.com/office/drawing/2014/main" id="{D87CD747-D385-49CD-9548-C524239F7823}"/>
              </a:ext>
            </a:extLst>
          </p:cNvPr>
          <p:cNvSpPr>
            <a:spLocks xmlns:a="http://schemas.openxmlformats.org/drawingml/2006/main" noGrp="1"/>
          </p:cNvSpPr>
          <p:nvPr/>
        </p:nvSpPr>
        <p:spPr>
          <a:xfrm xmlns:a="http://schemas.openxmlformats.org/drawingml/2006/main">
            <a:off x="609600" y="857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2B3C"/>
                </a:solidFill>
                <a:latin typeface="Segoe UI"/>
                <a:ea typeface="Segoe UI"/>
                <a:cs typeface="Segoe UI"/>
              </a:defRPr>
            </a:defPPr>
          </a:lstStyle>
          <a:p xmlns:a="http://schemas.openxmlformats.org/drawingml/2006/main">
            <a:pPr>
              <a:defRPr sz="3300" b="1">
                <a:solidFill>
                  <a:srgbClr val="152B3C"/>
                </a:solidFill>
                <a:latin typeface="Segoe UI"/>
                <a:ea typeface="Segoe UI"/>
                <a:cs typeface="Segoe UI"/>
              </a:defRPr>
            </a:pPr>
            <a:r>
              <a:rPr sz="3300" b="1">
                <a:solidFill>
                  <a:srgbClr val="152B3C"/>
                </a:solidFill>
                <a:latin typeface="Segoe UI"/>
                <a:ea typeface="Segoe UI"/>
                <a:cs typeface="Segoe UI"/>
              </a:rPr>
              <a:t>Veri modeli ve cevapların kaydı</a:t>
            </a:r>
          </a:p>
        </p:txBody>
      </p:sp>
      <p:graphicFrame>
        <p:nvGraphicFramePr>
          <p:cNvPr id="3" name="">
            <a:extLst xmlns:a="http://schemas.openxmlformats.org/drawingml/2006/main">
              <a:ext uri="{FF2B5EF4-FFF2-40B4-BE49-F238E27FC236}">
                <a16:creationId xmlns:a16="http://schemas.microsoft.com/office/drawing/2014/main" id="{6CC7F3A8-5836-4189-AE2E-5D9F45CAD5B6}"/>
              </a:ext>
            </a:extLst>
          </p:cNvPr>
          <p:cNvGraphicFramePr/>
          <p:nvPr/>
        </p:nvGraphicFramePr>
        <p:xfrm>
          <a:off xmlns:a="http://schemas.openxmlformats.org/drawingml/2006/main" x="609600" y="2095500"/>
          <a:ext xmlns:a="http://schemas.openxmlformats.org/drawingml/2006/main" cx="10953750" cy="3333750"/>
        </p:xfrm>
        <a:graphic xmlns:a="http://schemas.openxmlformats.org/drawingml/2006/main">
          <a:graphicData uri="http://schemas.openxmlformats.org/drawingml/2006/table">
            <a:tbl>
              <a:tblPr/>
              <a:tblGrid>
                <a:gridCol w="2381250"/>
                <a:gridCol w="4476750"/>
                <a:gridCol w="4095750"/>
              </a:tblGrid>
              <a:tr h="555625">
                <a:tc>
                  <a:txBody>
                    <a:bodyPr/>
                    <a:lstStyle/>
                    <a:p>
                      <a:r>
                        <a:rPr sz="1650" b="1">
                          <a:solidFill>
                            <a:srgbClr val="152B3C"/>
                          </a:solidFill>
                          <a:latin typeface="Segoe UI"/>
                          <a:ea typeface="Segoe UI"/>
                          <a:cs typeface="Segoe UI"/>
                        </a:rPr>
                        <a:t>İlişki / kayıt</a:t>
                      </a:r>
                    </a:p>
                  </a:txBody>
                  <a:tcPr marL="91440" marR="91440" marT="45720" marB="45720">
                    <a:solidFill>
                      <a:srgbClr val="E8E4F5"/>
                    </a:solidFill>
                  </a:tcPr>
                </a:tc>
                <a:tc>
                  <a:txBody>
                    <a:bodyPr/>
                    <a:lstStyle/>
                    <a:p>
                      <a:r>
                        <a:rPr sz="1650" b="1">
                          <a:solidFill>
                            <a:srgbClr val="152B3C"/>
                          </a:solidFill>
                          <a:latin typeface="Segoe UI"/>
                          <a:ea typeface="Segoe UI"/>
                          <a:cs typeface="Segoe UI"/>
                        </a:rPr>
                        <a:t>Tablo ve anahtar</a:t>
                      </a:r>
                    </a:p>
                  </a:txBody>
                  <a:tcPr marL="91440" marR="91440" marT="45720" marB="45720">
                    <a:solidFill>
                      <a:srgbClr val="E8E4F5"/>
                    </a:solidFill>
                  </a:tcPr>
                </a:tc>
                <a:tc>
                  <a:txBody>
                    <a:bodyPr/>
                    <a:lstStyle/>
                    <a:p>
                      <a:r>
                        <a:rPr sz="1650" b="1">
                          <a:solidFill>
                            <a:srgbClr val="152B3C"/>
                          </a:solidFill>
                          <a:latin typeface="Segoe UI"/>
                          <a:ea typeface="Segoe UI"/>
                          <a:cs typeface="Segoe UI"/>
                        </a:rPr>
                        <a:t>İşlev</a:t>
                      </a:r>
                    </a:p>
                  </a:txBody>
                  <a:tcPr marL="91440" marR="91440" marT="45720" marB="45720">
                    <a:solidFill>
                      <a:srgbClr val="E8E4F5"/>
                    </a:solidFill>
                  </a:tcPr>
                </a:tc>
              </a:tr>
              <a:tr h="555625">
                <a:tc>
                  <a:txBody>
                    <a:bodyPr/>
                    <a:lstStyle/>
                    <a:p>
                      <a:r>
                        <a:rPr sz="1650" b="1">
                          <a:solidFill>
                            <a:srgbClr val="152B3C"/>
                          </a:solidFill>
                          <a:latin typeface="Segoe UI"/>
                          <a:ea typeface="Segoe UI"/>
                          <a:cs typeface="Segoe UI"/>
                        </a:rPr>
                        <a:t>Veli ve çocuk</a:t>
                      </a:r>
                    </a:p>
                  </a:txBody>
                  <a:tcPr marL="91440" marR="91440" marT="45720" marB="45720">
                    <a:solidFill>
                      <a:srgbClr val="FAF8F1"/>
                    </a:solidFill>
                  </a:tcPr>
                </a:tc>
                <a:tc>
                  <a:txBody>
                    <a:bodyPr/>
                    <a:lstStyle/>
                    <a:p>
                      <a:r>
                        <a:rPr sz="1650" b="0">
                          <a:solidFill>
                            <a:srgbClr val="152B3C"/>
                          </a:solidFill>
                          <a:latin typeface="Segoe UI"/>
                          <a:ea typeface="Segoe UI"/>
                          <a:cs typeface="Segoe UI"/>
                        </a:rPr>
                        <a:t>students.parent_id → users.id</a:t>
                      </a:r>
                    </a:p>
                  </a:txBody>
                  <a:tcPr marL="91440" marR="91440" marT="45720" marB="45720">
                    <a:solidFill>
                      <a:srgbClr val="FAF8F1"/>
                    </a:solidFill>
                  </a:tcPr>
                </a:tc>
                <a:tc>
                  <a:txBody>
                    <a:bodyPr/>
                    <a:lstStyle/>
                    <a:p>
                      <a:r>
                        <a:rPr sz="1650" b="0">
                          <a:solidFill>
                            <a:srgbClr val="152B3C"/>
                          </a:solidFill>
                          <a:latin typeface="Segoe UI"/>
                          <a:ea typeface="Segoe UI"/>
                          <a:cs typeface="Segoe UI"/>
                        </a:rPr>
                        <a:t>Çocuğu veli hesabına bağlar</a:t>
                      </a:r>
                    </a:p>
                  </a:txBody>
                  <a:tcPr marL="91440" marR="91440" marT="45720" marB="45720">
                    <a:solidFill>
                      <a:srgbClr val="FAF8F1"/>
                    </a:solidFill>
                  </a:tcPr>
                </a:tc>
              </a:tr>
              <a:tr h="555625">
                <a:tc>
                  <a:txBody>
                    <a:bodyPr/>
                    <a:lstStyle/>
                    <a:p>
                      <a:r>
                        <a:rPr sz="1650" b="1">
                          <a:solidFill>
                            <a:srgbClr val="152B3C"/>
                          </a:solidFill>
                          <a:latin typeface="Segoe UI"/>
                          <a:ea typeface="Segoe UI"/>
                          <a:cs typeface="Segoe UI"/>
                        </a:rPr>
                        <a:t>Öğretmen ve sınıf</a:t>
                      </a:r>
                    </a:p>
                  </a:txBody>
                  <a:tcPr marL="91440" marR="91440" marT="45720" marB="45720">
                    <a:solidFill>
                      <a:srgbClr val="FAF8F1"/>
                    </a:solidFill>
                  </a:tcPr>
                </a:tc>
                <a:tc>
                  <a:txBody>
                    <a:bodyPr/>
                    <a:lstStyle/>
                    <a:p>
                      <a:r>
                        <a:rPr sz="1650" b="0">
                          <a:solidFill>
                            <a:srgbClr val="152B3C"/>
                          </a:solidFill>
                          <a:latin typeface="Segoe UI"/>
                          <a:ea typeface="Segoe UI"/>
                          <a:cs typeface="Segoe UI"/>
                        </a:rPr>
                        <a:t>classes.teacher_id → users.id</a:t>
                      </a:r>
                    </a:p>
                  </a:txBody>
                  <a:tcPr marL="91440" marR="91440" marT="45720" marB="45720">
                    <a:solidFill>
                      <a:srgbClr val="FAF8F1"/>
                    </a:solidFill>
                  </a:tcPr>
                </a:tc>
                <a:tc>
                  <a:txBody>
                    <a:bodyPr/>
                    <a:lstStyle/>
                    <a:p>
                      <a:r>
                        <a:rPr sz="1650" b="0">
                          <a:solidFill>
                            <a:srgbClr val="152B3C"/>
                          </a:solidFill>
                          <a:latin typeface="Segoe UI"/>
                          <a:ea typeface="Segoe UI"/>
                          <a:cs typeface="Segoe UI"/>
                        </a:rPr>
                        <a:t>Sınıfı ilgili öğretmene bağlar</a:t>
                      </a:r>
                    </a:p>
                  </a:txBody>
                  <a:tcPr marL="91440" marR="91440" marT="45720" marB="45720">
                    <a:solidFill>
                      <a:srgbClr val="FAF8F1"/>
                    </a:solidFill>
                  </a:tcPr>
                </a:tc>
              </a:tr>
              <a:tr h="555625">
                <a:tc>
                  <a:txBody>
                    <a:bodyPr/>
                    <a:lstStyle/>
                    <a:p>
                      <a:r>
                        <a:rPr sz="1650" b="1">
                          <a:solidFill>
                            <a:srgbClr val="152B3C"/>
                          </a:solidFill>
                          <a:latin typeface="Segoe UI"/>
                          <a:ea typeface="Segoe UI"/>
                          <a:cs typeface="Segoe UI"/>
                        </a:rPr>
                        <a:t>Sınıf ve öğrenci</a:t>
                      </a:r>
                    </a:p>
                  </a:txBody>
                  <a:tcPr marL="91440" marR="91440" marT="45720" marB="45720">
                    <a:solidFill>
                      <a:srgbClr val="FAF8F1"/>
                    </a:solidFill>
                  </a:tcPr>
                </a:tc>
                <a:tc>
                  <a:txBody>
                    <a:bodyPr/>
                    <a:lstStyle/>
                    <a:p>
                      <a:r>
                        <a:rPr sz="1650" b="0">
                          <a:solidFill>
                            <a:srgbClr val="152B3C"/>
                          </a:solidFill>
                          <a:latin typeface="Segoe UI"/>
                          <a:ea typeface="Segoe UI"/>
                          <a:cs typeface="Segoe UI"/>
                        </a:rPr>
                        <a:t>class_students(class_id, student_id)</a:t>
                      </a:r>
                    </a:p>
                  </a:txBody>
                  <a:tcPr marL="91440" marR="91440" marT="45720" marB="45720">
                    <a:solidFill>
                      <a:srgbClr val="FAF8F1"/>
                    </a:solidFill>
                  </a:tcPr>
                </a:tc>
                <a:tc>
                  <a:txBody>
                    <a:bodyPr/>
                    <a:lstStyle/>
                    <a:p>
                      <a:r>
                        <a:rPr sz="1650" b="0">
                          <a:solidFill>
                            <a:srgbClr val="152B3C"/>
                          </a:solidFill>
                          <a:latin typeface="Segoe UI"/>
                          <a:ea typeface="Segoe UI"/>
                          <a:cs typeface="Segoe UI"/>
                        </a:rPr>
                        <a:t>Öğrencinin katıldığı sınıfları kaydeder</a:t>
                      </a:r>
                    </a:p>
                  </a:txBody>
                  <a:tcPr marL="91440" marR="91440" marT="45720" marB="45720">
                    <a:solidFill>
                      <a:srgbClr val="FAF8F1"/>
                    </a:solidFill>
                  </a:tcPr>
                </a:tc>
              </a:tr>
              <a:tr h="555625">
                <a:tc>
                  <a:txBody>
                    <a:bodyPr/>
                    <a:lstStyle/>
                    <a:p>
                      <a:r>
                        <a:rPr sz="1650" b="1">
                          <a:solidFill>
                            <a:srgbClr val="152B3C"/>
                          </a:solidFill>
                          <a:latin typeface="Segoe UI"/>
                          <a:ea typeface="Segoe UI"/>
                          <a:cs typeface="Segoe UI"/>
                        </a:rPr>
                        <a:t>Görev ve soru</a:t>
                      </a:r>
                    </a:p>
                  </a:txBody>
                  <a:tcPr marL="91440" marR="91440" marT="45720" marB="45720">
                    <a:solidFill>
                      <a:srgbClr val="FAF8F1"/>
                    </a:solidFill>
                  </a:tcPr>
                </a:tc>
                <a:tc>
                  <a:txBody>
                    <a:bodyPr/>
                    <a:lstStyle/>
                    <a:p>
                      <a:r>
                        <a:rPr sz="1650" b="0">
                          <a:solidFill>
                            <a:srgbClr val="152B3C"/>
                          </a:solidFill>
                          <a:latin typeface="Segoe UI"/>
                          <a:ea typeface="Segoe UI"/>
                          <a:cs typeface="Segoe UI"/>
                        </a:rPr>
                        <a:t>assignments → questions</a:t>
                      </a:r>
                    </a:p>
                  </a:txBody>
                  <a:tcPr marL="91440" marR="91440" marT="45720" marB="45720">
                    <a:solidFill>
                      <a:srgbClr val="FAF8F1"/>
                    </a:solidFill>
                  </a:tcPr>
                </a:tc>
                <a:tc>
                  <a:txBody>
                    <a:bodyPr/>
                    <a:lstStyle/>
                    <a:p>
                      <a:r>
                        <a:rPr sz="1650" b="0">
                          <a:solidFill>
                            <a:srgbClr val="152B3C"/>
                          </a:solidFill>
                          <a:latin typeface="Segoe UI"/>
                          <a:ea typeface="Segoe UI"/>
                          <a:cs typeface="Segoe UI"/>
                        </a:rPr>
                        <a:t>Görev içeriğini saklar</a:t>
                      </a:r>
                    </a:p>
                  </a:txBody>
                  <a:tcPr marL="91440" marR="91440" marT="45720" marB="45720">
                    <a:solidFill>
                      <a:srgbClr val="FAF8F1"/>
                    </a:solidFill>
                  </a:tcPr>
                </a:tc>
              </a:tr>
              <a:tr h="555625">
                <a:tc>
                  <a:txBody>
                    <a:bodyPr/>
                    <a:lstStyle/>
                    <a:p>
                      <a:r>
                        <a:rPr sz="1650" b="1">
                          <a:solidFill>
                            <a:srgbClr val="152B3C"/>
                          </a:solidFill>
                          <a:latin typeface="Segoe UI"/>
                          <a:ea typeface="Segoe UI"/>
                          <a:cs typeface="Segoe UI"/>
                        </a:rPr>
                        <a:t>Yanıt geçmişi</a:t>
                      </a:r>
                    </a:p>
                  </a:txBody>
                  <a:tcPr marL="91440" marR="91440" marT="45720" marB="45720">
                    <a:solidFill>
                      <a:srgbClr val="FAF8F1"/>
                    </a:solidFill>
                  </a:tcPr>
                </a:tc>
                <a:tc>
                  <a:txBody>
                    <a:bodyPr/>
                    <a:lstStyle/>
                    <a:p>
                      <a:r>
                        <a:rPr sz="1650" b="0">
                          <a:solidFill>
                            <a:srgbClr val="152B3C"/>
                          </a:solidFill>
                          <a:latin typeface="Segoe UI"/>
                          <a:ea typeface="Segoe UI"/>
                          <a:cs typeface="Segoe UI"/>
                        </a:rPr>
                        <a:t>student_results / practice_attempts</a:t>
                      </a:r>
                    </a:p>
                  </a:txBody>
                  <a:tcPr marL="91440" marR="91440" marT="45720" marB="45720">
                    <a:solidFill>
                      <a:srgbClr val="FAF8F1"/>
                    </a:solidFill>
                  </a:tcPr>
                </a:tc>
                <a:tc>
                  <a:txBody>
                    <a:bodyPr/>
                    <a:lstStyle/>
                    <a:p>
                      <a:r>
                        <a:rPr sz="1650" b="0">
                          <a:solidFill>
                            <a:srgbClr val="152B3C"/>
                          </a:solidFill>
                          <a:latin typeface="Segoe UI"/>
                          <a:ea typeface="Segoe UI"/>
                          <a:cs typeface="Segoe UI"/>
                        </a:rPr>
                        <a:t>Görev ile ek desteği ayırır</a:t>
                      </a:r>
                    </a:p>
                  </a:txBody>
                  <a:tcPr marL="91440" marR="91440" marT="45720" marB="45720">
                    <a:solidFill>
                      <a:srgbClr val="FAF8F1"/>
                    </a:solidFill>
                  </a:tcPr>
                </a:tc>
              </a:tr>
            </a:tbl>
          </a:graphicData>
        </a:graphic>
      </p:graphicFrame>
      <p:sp>
        <p:nvSpPr>
          <p:cNvPr id="4" name="">
            <a:extLst xmlns:a="http://schemas.openxmlformats.org/drawingml/2006/main">
              <a:ext uri="{FF2B5EF4-FFF2-40B4-BE49-F238E27FC236}">
                <a16:creationId xmlns:a16="http://schemas.microsoft.com/office/drawing/2014/main" id="{7F57B076-C20F-4FB0-AB0E-4A821648A2DD}"/>
              </a:ext>
            </a:extLst>
          </p:cNvPr>
          <p:cNvSpPr>
            <a:spLocks xmlns:a="http://schemas.openxmlformats.org/drawingml/2006/main" noGrp="1"/>
          </p:cNvSpPr>
          <p:nvPr/>
        </p:nvSpPr>
        <p:spPr>
          <a:xfrm xmlns:a="http://schemas.openxmlformats.org/drawingml/2006/main">
            <a:off x="609600" y="56388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352C7"/>
                </a:solidFill>
                <a:latin typeface="Segoe UI"/>
                <a:ea typeface="Segoe UI"/>
                <a:cs typeface="Segoe UI"/>
              </a:defRPr>
            </a:defPPr>
          </a:lstStyle>
          <a:p xmlns:a="http://schemas.openxmlformats.org/drawingml/2006/main">
            <a:pPr>
              <a:defRPr sz="1875" b="1">
                <a:solidFill>
                  <a:srgbClr val="7352C7"/>
                </a:solidFill>
                <a:latin typeface="Segoe UI"/>
                <a:ea typeface="Segoe UI"/>
                <a:cs typeface="Segoe UI"/>
              </a:defRPr>
            </a:pPr>
            <a:r>
              <a:rPr sz="1875" b="1">
                <a:solidFill>
                  <a:srgbClr val="7352C7"/>
                </a:solidFill>
                <a:latin typeface="Segoe UI"/>
                <a:ea typeface="Segoe UI"/>
                <a:cs typeface="Segoe UI"/>
              </a:rPr>
              <a:t>Her cevap için ders, kazanım, süre ve ek destek bilgisi kaydedilir.</a:t>
            </a:r>
          </a:p>
        </p:txBody>
      </p:sp>
      <p:sp>
        <p:nvSpPr>
          <p:cNvPr id="5" name="">
            <a:extLst xmlns:a="http://schemas.openxmlformats.org/drawingml/2006/main">
              <a:ext uri="{FF2B5EF4-FFF2-40B4-BE49-F238E27FC236}">
                <a16:creationId xmlns:a16="http://schemas.microsoft.com/office/drawing/2014/main" id="{D210E691-016C-45BC-B692-6070D6962AA4}"/>
              </a:ext>
            </a:extLst>
          </p:cNvPr>
          <p:cNvSpPr>
            <a:spLocks xmlns:a="http://schemas.openxmlformats.org/drawingml/2006/main" noGrp="1"/>
          </p:cNvSpPr>
          <p:nvPr/>
        </p:nvSpPr>
        <p:spPr>
          <a:xfrm xmlns:a="http://schemas.openxmlformats.org/drawingml/2006/main">
            <a:off x="609600" y="61531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6747E"/>
                </a:solidFill>
                <a:latin typeface="Segoe UI"/>
                <a:ea typeface="Segoe UI"/>
                <a:cs typeface="Segoe UI"/>
              </a:defRPr>
            </a:defPPr>
          </a:lstStyle>
          <a:p xmlns:a="http://schemas.openxmlformats.org/drawingml/2006/main">
            <a:pPr>
              <a:defRPr sz="1575" b="0">
                <a:solidFill>
                  <a:srgbClr val="66747E"/>
                </a:solidFill>
                <a:latin typeface="Segoe UI"/>
                <a:ea typeface="Segoe UI"/>
                <a:cs typeface="Segoe UI"/>
              </a:defRPr>
            </a:pPr>
            <a:r>
              <a:rPr sz="1575" b="0">
                <a:solidFill>
                  <a:srgbClr val="66747E"/>
                </a:solidFill>
                <a:latin typeface="Segoe UI"/>
                <a:ea typeface="Segoe UI"/>
                <a:cs typeface="Segoe UI"/>
              </a:rPr>
              <a:t>İlişkisel anahtarlar ve tek işlemde kayıt, verilerin tutarlı kalmasını sağlar.</a:t>
            </a:r>
          </a:p>
        </p:txBody>
      </p:sp>
    </p:spTree>
    <p:extLst>
      <p:ext uri="{BB962C8B-B14F-4D97-AF65-F5344CB8AC3E}">
        <p14:creationId xmlns:p14="http://schemas.microsoft.com/office/powerpoint/2010/main" val="739346358"/>
      </p:ext>
    </p:extLst>
  </p:cSld>
</p:sld>
</file>

<file path=ppt/slides/slide6.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ED2B66-8187-4BA9-B4B7-63F5D308388C}"/>
              </a:ext>
            </a:extLst>
          </p:cNvPr>
          <p:cNvSpPr>
            <a:spLocks xmlns:a="http://schemas.openxmlformats.org/drawingml/2006/main" noGrp="1"/>
          </p:cNvSpPr>
          <p:nvPr/>
        </p:nvSpPr>
        <p:spPr>
          <a:xfrm xmlns:a="http://schemas.openxmlformats.org/drawingml/2006/main">
            <a:off x="609600" y="285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B9C80"/>
                </a:solidFill>
                <a:latin typeface="Segoe UI"/>
                <a:ea typeface="Segoe UI"/>
                <a:cs typeface="Segoe UI"/>
              </a:defRPr>
            </a:defPPr>
          </a:lstStyle>
          <a:p xmlns:a="http://schemas.openxmlformats.org/drawingml/2006/main">
            <a:pPr>
              <a:buNone/>
              <a:defRPr sz="1200" b="1">
                <a:solidFill>
                  <a:srgbClr val="2B9C80"/>
                </a:solidFill>
                <a:latin typeface="Segoe UI"/>
                <a:ea typeface="Segoe UI"/>
                <a:cs typeface="Segoe UI"/>
              </a:defRPr>
            </a:pPr>
            <a:r>
              <a:rPr sz="1200" b="1">
                <a:solidFill>
                  <a:srgbClr val="2B9C80"/>
                </a:solidFill>
                <a:latin typeface="Segoe UI"/>
                <a:ea typeface="Segoe UI"/>
                <a:cs typeface="Segoe UI"/>
              </a:rPr>
              <a:t>ÖĞRENME MOLASI</a:t>
            </a:r>
          </a:p>
        </p:txBody>
      </p:sp>
      <p:sp>
        <p:nvSpPr>
          <p:cNvPr id="2" name="">
            <a:extLst xmlns:a="http://schemas.openxmlformats.org/drawingml/2006/main">
              <a:ext uri="{FF2B5EF4-FFF2-40B4-BE49-F238E27FC236}">
                <a16:creationId xmlns:a16="http://schemas.microsoft.com/office/drawing/2014/main" id="{EE2339ED-9131-4F09-B792-8F3CBAA9A32F}"/>
              </a:ext>
            </a:extLst>
          </p:cNvPr>
          <p:cNvSpPr>
            <a:spLocks xmlns:a="http://schemas.openxmlformats.org/drawingml/2006/main" noGrp="1"/>
          </p:cNvSpPr>
          <p:nvPr/>
        </p:nvSpPr>
        <p:spPr>
          <a:xfrm xmlns:a="http://schemas.openxmlformats.org/drawingml/2006/main">
            <a:off x="11144250" y="63055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6747E"/>
                </a:solidFill>
                <a:latin typeface="Segoe UI"/>
                <a:ea typeface="Segoe UI"/>
                <a:cs typeface="Segoe UI"/>
              </a:defRPr>
            </a:defPPr>
          </a:lstStyle>
          <a:p xmlns:a="http://schemas.openxmlformats.org/drawingml/2006/main">
            <a:pPr>
              <a:buNone/>
              <a:defRPr sz="1350" b="0">
                <a:solidFill>
                  <a:srgbClr val="66747E"/>
                </a:solidFill>
                <a:latin typeface="Segoe UI"/>
                <a:ea typeface="Segoe UI"/>
                <a:cs typeface="Segoe UI"/>
              </a:defRPr>
            </a:pPr>
            <a:r>
              <a:rPr sz="1350" b="0">
                <a:solidFill>
                  <a:srgbClr val="66747E"/>
                </a:solidFill>
                <a:latin typeface="Segoe UI"/>
                <a:ea typeface="Segoe UI"/>
                <a:cs typeface="Segoe UI"/>
              </a:rPr>
              <a:t>06</a:t>
            </a:r>
          </a:p>
        </p:txBody>
      </p:sp>
      <p:sp>
        <p:nvSpPr>
          <p:cNvPr id="3" name="">
            <a:extLst xmlns:a="http://schemas.openxmlformats.org/drawingml/2006/main">
              <a:ext uri="{FF2B5EF4-FFF2-40B4-BE49-F238E27FC236}">
                <a16:creationId xmlns:a16="http://schemas.microsoft.com/office/drawing/2014/main" id="{4EEB3F4D-09DC-4B9F-9556-19590733674E}"/>
              </a:ext>
            </a:extLst>
          </p:cNvPr>
          <p:cNvSpPr>
            <a:spLocks xmlns:a="http://schemas.openxmlformats.org/drawingml/2006/main" noGrp="1"/>
          </p:cNvSpPr>
          <p:nvPr/>
        </p:nvSpPr>
        <p:spPr>
          <a:xfrm xmlns:a="http://schemas.openxmlformats.org/drawingml/2006/main">
            <a:off x="609600" y="8572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2B3C"/>
                </a:solidFill>
                <a:latin typeface="Segoe UI"/>
                <a:ea typeface="Segoe UI"/>
                <a:cs typeface="Segoe UI"/>
              </a:defRPr>
            </a:defPPr>
          </a:lstStyle>
          <a:p xmlns:a="http://schemas.openxmlformats.org/drawingml/2006/main">
            <a:pPr>
              <a:buNone/>
              <a:defRPr sz="3300" b="1">
                <a:solidFill>
                  <a:srgbClr val="152B3C"/>
                </a:solidFill>
                <a:latin typeface="Segoe UI"/>
                <a:ea typeface="Segoe UI"/>
                <a:cs typeface="Segoe UI"/>
              </a:defRPr>
            </a:pPr>
            <a:r>
              <a:rPr sz="3300" b="1">
                <a:solidFill>
                  <a:srgbClr val="152B3C"/>
                </a:solidFill>
                <a:latin typeface="Segoe UI"/>
                <a:ea typeface="Segoe UI"/>
                <a:cs typeface="Segoe UI"/>
              </a:rPr>
              <a:t>İlerlemeyi cevaplardan izliyoruz</a:t>
            </a:r>
          </a:p>
        </p:txBody>
      </p:sp>
      <p:sp>
        <p:nvSpPr>
          <p:cNvPr id="5" name="">
            <a:extLst xmlns:a="http://schemas.openxmlformats.org/drawingml/2006/main">
              <a:ext uri="{FF2B5EF4-FFF2-40B4-BE49-F238E27FC236}">
                <a16:creationId xmlns:a16="http://schemas.microsoft.com/office/drawing/2014/main" id="{7FF136C3-BDD2-4164-A67B-6B142C1D9976}"/>
              </a:ext>
            </a:extLst>
          </p:cNvPr>
          <p:cNvSpPr>
            <a:spLocks xmlns:a="http://schemas.openxmlformats.org/drawingml/2006/main" noGrp="1"/>
          </p:cNvSpPr>
          <p:nvPr/>
        </p:nvSpPr>
        <p:spPr>
          <a:xfrm xmlns:a="http://schemas.openxmlformats.org/drawingml/2006/main">
            <a:off x="1752600" y="3190875"/>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152B3C"/>
                </a:solidFill>
                <a:latin typeface="Segoe UI"/>
                <a:ea typeface="Segoe UI"/>
                <a:cs typeface="Segoe UI"/>
              </a:defRPr>
            </a:defPPr>
          </a:lstStyle>
          <a:p xmlns:a="http://schemas.openxmlformats.org/drawingml/2006/main">
            <a:pPr>
              <a:buNone/>
              <a:defRPr sz="5250" b="1">
                <a:solidFill>
                  <a:srgbClr val="152B3C"/>
                </a:solidFill>
                <a:latin typeface="Segoe UI"/>
                <a:ea typeface="Segoe UI"/>
                <a:cs typeface="Segoe UI"/>
              </a:defRPr>
            </a:pPr>
            <a:r>
              <a:rPr sz="5250" b="1">
                <a:solidFill>
                  <a:srgbClr val="152B3C"/>
                </a:solidFill>
                <a:latin typeface="Segoe UI"/>
                <a:ea typeface="Segoe UI"/>
                <a:cs typeface="Segoe UI"/>
              </a:rPr>
              <a:t>%80</a:t>
            </a:r>
          </a:p>
        </p:txBody>
      </p:sp>
      <p:sp>
        <p:nvSpPr>
          <p:cNvPr id="6" name="">
            <a:extLst xmlns:a="http://schemas.openxmlformats.org/drawingml/2006/main">
              <a:ext uri="{FF2B5EF4-FFF2-40B4-BE49-F238E27FC236}">
                <a16:creationId xmlns:a16="http://schemas.microsoft.com/office/drawing/2014/main" id="{CC9D5229-D3EF-430A-9513-CF6E92290DB1}"/>
              </a:ext>
            </a:extLst>
          </p:cNvPr>
          <p:cNvSpPr>
            <a:spLocks xmlns:a="http://schemas.openxmlformats.org/drawingml/2006/main" noGrp="1"/>
          </p:cNvSpPr>
          <p:nvPr/>
        </p:nvSpPr>
        <p:spPr>
          <a:xfrm xmlns:a="http://schemas.openxmlformats.org/drawingml/2006/main">
            <a:off x="1028700" y="571500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B9C80"/>
                </a:solidFill>
                <a:latin typeface="Segoe UI"/>
                <a:ea typeface="Segoe UI"/>
                <a:cs typeface="Segoe UI"/>
              </a:defRPr>
            </a:defPPr>
          </a:lstStyle>
          <a:p xmlns:a="http://schemas.openxmlformats.org/drawingml/2006/main">
            <a:pPr>
              <a:buNone/>
              <a:defRPr sz="1950" b="1">
                <a:solidFill>
                  <a:srgbClr val="2B9C80"/>
                </a:solidFill>
                <a:latin typeface="Segoe UI"/>
                <a:ea typeface="Segoe UI"/>
                <a:cs typeface="Segoe UI"/>
              </a:defRPr>
            </a:pPr>
            <a:r>
              <a:rPr sz="1950" b="1">
                <a:solidFill>
                  <a:srgbClr val="2B9C80"/>
                </a:solidFill>
                <a:latin typeface="Segoe UI"/>
                <a:ea typeface="Segoe UI"/>
                <a:cs typeface="Segoe UI"/>
              </a:rPr>
              <a:t>4 / 5 yardımsız doğru</a:t>
            </a:r>
          </a:p>
        </p:txBody>
      </p:sp>
      <p:sp>
        <p:nvSpPr>
          <p:cNvPr id="7" name="">
            <a:extLst xmlns:a="http://schemas.openxmlformats.org/drawingml/2006/main">
              <a:ext uri="{FF2B5EF4-FFF2-40B4-BE49-F238E27FC236}">
                <a16:creationId xmlns:a16="http://schemas.microsoft.com/office/drawing/2014/main" id="{3DFBE977-503F-4D14-9A46-039132B1C146}"/>
              </a:ext>
            </a:extLst>
          </p:cNvPr>
          <p:cNvSpPr>
            <a:spLocks xmlns:a="http://schemas.openxmlformats.org/drawingml/2006/main" noGrp="1"/>
          </p:cNvSpPr>
          <p:nvPr/>
        </p:nvSpPr>
        <p:spPr>
          <a:xfrm xmlns:a="http://schemas.openxmlformats.org/drawingml/2006/main">
            <a:off x="5905500" y="2190750"/>
            <a:ext cx="5476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7352C7"/>
                </a:solidFill>
                <a:latin typeface="Segoe UI"/>
                <a:ea typeface="Segoe UI"/>
                <a:cs typeface="Segoe UI"/>
              </a:defRPr>
            </a:defPPr>
          </a:lstStyle>
          <a:p xmlns:a="http://schemas.openxmlformats.org/drawingml/2006/main">
            <a:pPr>
              <a:buNone/>
              <a:defRPr sz="3225" b="1">
                <a:solidFill>
                  <a:srgbClr val="7352C7"/>
                </a:solidFill>
                <a:latin typeface="Segoe UI"/>
                <a:ea typeface="Segoe UI"/>
                <a:cs typeface="Segoe UI"/>
              </a:defRPr>
            </a:pPr>
            <a:r>
              <a:rPr sz="3225" b="1">
                <a:solidFill>
                  <a:srgbClr val="7352C7"/>
                </a:solidFill>
                <a:latin typeface="Segoe UI"/>
                <a:ea typeface="Segoe UI"/>
                <a:cs typeface="Segoe UI"/>
              </a:rPr>
              <a:t>Kayan pencereyle</a:t>
            </a:r>
          </a:p>
          <a:p xmlns:a="http://schemas.openxmlformats.org/drawingml/2006/main">
            <a:pPr>
              <a:buNone/>
              <a:defRPr sz="3225" b="1">
                <a:solidFill>
                  <a:srgbClr val="7352C7"/>
                </a:solidFill>
                <a:latin typeface="Segoe UI"/>
                <a:ea typeface="Segoe UI"/>
                <a:cs typeface="Segoe UI"/>
              </a:defRPr>
            </a:pPr>
            <a:r>
              <a:rPr sz="3225" b="1">
                <a:solidFill>
                  <a:srgbClr val="7352C7"/>
                </a:solidFill>
                <a:latin typeface="Segoe UI"/>
                <a:ea typeface="Segoe UI"/>
                <a:cs typeface="Segoe UI"/>
              </a:rPr>
              <a:t>kazanım değerlendirmesi</a:t>
            </a:r>
          </a:p>
        </p:txBody>
      </p:sp>
      <p:sp>
        <p:nvSpPr>
          <p:cNvPr id="8" name="">
            <a:extLst xmlns:a="http://schemas.openxmlformats.org/drawingml/2006/main">
              <a:ext uri="{FF2B5EF4-FFF2-40B4-BE49-F238E27FC236}">
                <a16:creationId xmlns:a16="http://schemas.microsoft.com/office/drawing/2014/main" id="{2C5FFDDD-A4FD-4D60-A6F9-C0EC29E210E2}"/>
              </a:ext>
            </a:extLst>
          </p:cNvPr>
          <p:cNvSpPr>
            <a:spLocks xmlns:a="http://schemas.openxmlformats.org/drawingml/2006/main" noGrp="1"/>
          </p:cNvSpPr>
          <p:nvPr/>
        </p:nvSpPr>
        <p:spPr>
          <a:xfrm xmlns:a="http://schemas.openxmlformats.org/drawingml/2006/main">
            <a:off x="5905500" y="3667125"/>
            <a:ext cx="5476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2B3C"/>
                </a:solidFill>
                <a:latin typeface="Segoe UI"/>
                <a:ea typeface="Segoe UI"/>
                <a:cs typeface="Segoe UI"/>
              </a:defRPr>
            </a:defPPr>
          </a:lstStyle>
          <a:p xmlns:a="http://schemas.openxmlformats.org/drawingml/2006/main">
            <a:pPr>
              <a:buNone/>
              <a:defRPr sz="1875" b="0">
                <a:solidFill>
                  <a:srgbClr val="152B3C"/>
                </a:solidFill>
                <a:latin typeface="Segoe UI"/>
                <a:ea typeface="Segoe UI"/>
                <a:cs typeface="Segoe UI"/>
              </a:defRPr>
            </a:pPr>
            <a:r>
              <a:rPr sz="1875" b="0">
                <a:solidFill>
                  <a:srgbClr val="152B3C"/>
                </a:solidFill>
                <a:latin typeface="Segoe UI"/>
                <a:ea typeface="Segoe UI"/>
                <a:cs typeface="Segoe UI"/>
              </a:rPr>
              <a:t>Her soru türünün son en fazla 5 yanıtına bakılır.</a:t>
            </a:r>
          </a:p>
          <a:p xmlns:a="http://schemas.openxmlformats.org/drawingml/2006/main">
            <a:pPr>
              <a:buNone/>
              <a:defRPr sz="1875" b="0">
                <a:solidFill>
                  <a:srgbClr val="152B3C"/>
                </a:solidFill>
                <a:latin typeface="Segoe UI"/>
                <a:ea typeface="Segoe UI"/>
                <a:cs typeface="Segoe UI"/>
              </a:defRPr>
            </a:pPr>
            <a:r>
              <a:rPr sz="1875" b="0">
                <a:solidFill>
                  <a:srgbClr val="152B3C"/>
                </a:solidFill>
                <a:latin typeface="Segoe UI"/>
                <a:ea typeface="Segoe UI"/>
                <a:cs typeface="Segoe UI"/>
              </a:rPr>
              <a:t>İpucuyla verilen doğru cevap, yardımsız başarı sayılmaz.</a:t>
            </a:r>
          </a:p>
          <a:p xmlns:a="http://schemas.openxmlformats.org/drawingml/2006/main">
            <a:pPr>
              <a:buNone/>
              <a:defRPr sz="1875" b="0">
                <a:solidFill>
                  <a:srgbClr val="152B3C"/>
                </a:solidFill>
                <a:latin typeface="Segoe UI"/>
                <a:ea typeface="Segoe UI"/>
                <a:cs typeface="Segoe UI"/>
              </a:defRPr>
            </a:pPr>
            <a:r>
              <a:rPr sz="1875" b="0">
                <a:solidFill>
                  <a:srgbClr val="152B3C"/>
                </a:solidFill>
                <a:latin typeface="Segoe UI"/>
                <a:ea typeface="Segoe UI"/>
                <a:cs typeface="Segoe UI"/>
              </a:rPr>
              <a:t>Her türde en az %80 ve yeterli örnek varsa hedef tamamlanır.</a:t>
            </a:r>
          </a:p>
        </p:txBody>
      </p:sp>
      <p:sp>
        <p:nvSpPr>
          <p:cNvPr id="9" name="">
            <a:extLst xmlns:a="http://schemas.openxmlformats.org/drawingml/2006/main">
              <a:ext uri="{FF2B5EF4-FFF2-40B4-BE49-F238E27FC236}">
                <a16:creationId xmlns:a16="http://schemas.microsoft.com/office/drawing/2014/main" id="{58B408EB-1BEF-489D-85F4-115CE6E4E5A6}"/>
              </a:ext>
            </a:extLst>
          </p:cNvPr>
          <p:cNvSpPr>
            <a:spLocks xmlns:a="http://schemas.openxmlformats.org/drawingml/2006/main" noGrp="1"/>
          </p:cNvSpPr>
          <p:nvPr/>
        </p:nvSpPr>
        <p:spPr>
          <a:xfrm xmlns:a="http://schemas.openxmlformats.org/drawingml/2006/main">
            <a:off x="609600" y="619125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6747E"/>
                </a:solidFill>
                <a:latin typeface="Segoe UI"/>
                <a:ea typeface="Segoe UI"/>
                <a:cs typeface="Segoe UI"/>
              </a:defRPr>
            </a:defPPr>
          </a:lstStyle>
          <a:p xmlns:a="http://schemas.openxmlformats.org/drawingml/2006/main">
            <a:pPr>
              <a:buNone/>
              <a:defRPr sz="1500" b="0">
                <a:solidFill>
                  <a:srgbClr val="66747E"/>
                </a:solidFill>
                <a:latin typeface="Segoe UI"/>
                <a:ea typeface="Segoe UI"/>
                <a:cs typeface="Segoe UI"/>
              </a:defRPr>
            </a:pPr>
            <a:r>
              <a:rPr sz="1500" b="0">
                <a:solidFill>
                  <a:srgbClr val="66747E"/>
                </a:solidFill>
                <a:latin typeface="Segoe UI"/>
                <a:ea typeface="Segoe UI"/>
                <a:cs typeface="Segoe UI"/>
              </a:rPr>
              <a:t>Temsili örnek. %80, pilotla değerlendirilecek uygulama içi ilerleme eşiğidir.</a:t>
            </a:r>
          </a:p>
        </p:txBody>
      </p:sp>
      <p:graphicFrame>
        <p:nvGraphicFramePr>
          <p:cNvPr id="11" name="Chart">
            <a:extLst xmlns:a="http://schemas.openxmlformats.org/drawingml/2006/main">
              <a:ext uri="{FF2B5EF4-FFF2-40B4-BE49-F238E27FC236}">
                <a16:creationId xmlns:a16="http://schemas.microsoft.com/office/drawing/2014/main" id="{792F8E4E-4C3E-491F-BF0D-DDC7D1A1541D}"/>
              </a:ext>
            </a:extLst>
          </p:cNvPr>
          <p:cNvGraphicFramePr/>
          <p:nvPr/>
        </p:nvGraphicFramePr>
        <p:xfrm>
          <a:off xmlns:a="http://schemas.openxmlformats.org/drawingml/2006/main" x="571500" y="1952625"/>
          <a:ext xmlns:a="http://schemas.openxmlformats.org/drawingml/2006/main" cx="4667250" cy="3714750"/>
        </p:xfrm>
        <a:graphic xmlns:a="http://schemas.openxmlformats.org/drawingml/2006/main">
          <a:graphicData uri="http://schemas.openxmlformats.org/drawingml/2006/chart">
            <c:chart xmlns:r="http://schemas.openxmlformats.org/officeDocument/2006/relationships" xmlns:c="http://schemas.openxmlformats.org/drawingml/2006/chart" r:id="Raea24e5141314785"/>
          </a:graphicData>
        </a:graphic>
      </p:graphicFrame>
    </p:spTree>
    <p:extLst>
      <p:ext uri="{BB962C8B-B14F-4D97-AF65-F5344CB8AC3E}">
        <p14:creationId xmlns:p14="http://schemas.microsoft.com/office/powerpoint/2010/main" val="833783675"/>
      </p:ext>
    </p:extLst>
  </p:cSld>
</p:sld>
</file>

<file path=ppt/slides/slide7.xml><?xml version="1.0" encoding="utf-8"?>
<p:sld xmlns:p="http://schemas.openxmlformats.org/presentationml/2006/main">
  <p:cSld>
    <p:bg>
      <p:bgPr>
        <a:solidFill xmlns:a="http://schemas.openxmlformats.org/drawingml/2006/main">
          <a:srgbClr val="152B3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0589858-21C4-4383-943A-5D94EF9702B6}"/>
              </a:ext>
            </a:extLst>
          </p:cNvPr>
          <p:cNvSpPr>
            <a:spLocks xmlns:a="http://schemas.openxmlformats.org/drawingml/2006/main" noGrp="1"/>
          </p:cNvSpPr>
          <p:nvPr/>
        </p:nvSpPr>
        <p:spPr>
          <a:xfrm xmlns:a="http://schemas.openxmlformats.org/drawingml/2006/main">
            <a:off x="609600" y="285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BFDCCD"/>
                </a:solidFill>
                <a:latin typeface="Segoe UI"/>
                <a:ea typeface="Segoe UI"/>
                <a:cs typeface="Segoe UI"/>
              </a:defRPr>
            </a:defPPr>
          </a:lstStyle>
          <a:p xmlns:a="http://schemas.openxmlformats.org/drawingml/2006/main">
            <a:pPr>
              <a:defRPr sz="1200" b="1">
                <a:solidFill>
                  <a:srgbClr val="BFDCCD"/>
                </a:solidFill>
                <a:latin typeface="Segoe UI"/>
                <a:ea typeface="Segoe UI"/>
                <a:cs typeface="Segoe UI"/>
              </a:defRPr>
            </a:pPr>
            <a:r>
              <a:rPr sz="1200" b="1">
                <a:solidFill>
                  <a:srgbClr val="BFDCCD"/>
                </a:solidFill>
                <a:latin typeface="Segoe UI"/>
                <a:ea typeface="Segoe UI"/>
                <a:cs typeface="Segoe UI"/>
              </a:rPr>
              <a:t>ÖĞRENME MOLASI</a:t>
            </a:r>
          </a:p>
        </p:txBody>
      </p:sp>
      <p:sp>
        <p:nvSpPr>
          <p:cNvPr id="2" name="">
            <a:extLst xmlns:a="http://schemas.openxmlformats.org/drawingml/2006/main">
              <a:ext uri="{FF2B5EF4-FFF2-40B4-BE49-F238E27FC236}">
                <a16:creationId xmlns:a16="http://schemas.microsoft.com/office/drawing/2014/main" id="{DFDAFBAF-83D6-4ECE-826B-D6F10D296CF8}"/>
              </a:ext>
            </a:extLst>
          </p:cNvPr>
          <p:cNvSpPr>
            <a:spLocks xmlns:a="http://schemas.openxmlformats.org/drawingml/2006/main" noGrp="1"/>
          </p:cNvSpPr>
          <p:nvPr/>
        </p:nvSpPr>
        <p:spPr>
          <a:xfrm xmlns:a="http://schemas.openxmlformats.org/drawingml/2006/main">
            <a:off x="609600" y="857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Segoe UI"/>
                <a:ea typeface="Segoe UI"/>
                <a:cs typeface="Segoe UI"/>
              </a:defRPr>
            </a:defPPr>
          </a:lstStyle>
          <a:p xmlns:a="http://schemas.openxmlformats.org/drawingml/2006/main">
            <a:pPr>
              <a:defRPr sz="3300" b="1">
                <a:solidFill>
                  <a:srgbClr val="FFFFFF"/>
                </a:solidFill>
                <a:latin typeface="Segoe UI"/>
                <a:ea typeface="Segoe UI"/>
                <a:cs typeface="Segoe UI"/>
              </a:defRPr>
            </a:pPr>
            <a:r>
              <a:rPr sz="3300" b="1">
                <a:solidFill>
                  <a:srgbClr val="FFFFFF"/>
                </a:solidFill>
                <a:latin typeface="Segoe UI"/>
                <a:ea typeface="Segoe UI"/>
                <a:cs typeface="Segoe UI"/>
              </a:rPr>
              <a:t>Gemini API ve doğrulama hattı</a:t>
            </a:r>
          </a:p>
        </p:txBody>
      </p:sp>
      <p:sp>
        <p:nvSpPr>
          <p:cNvPr id="3" name="">
            <a:extLst xmlns:a="http://schemas.openxmlformats.org/drawingml/2006/main">
              <a:ext uri="{FF2B5EF4-FFF2-40B4-BE49-F238E27FC236}">
                <a16:creationId xmlns:a16="http://schemas.microsoft.com/office/drawing/2014/main" id="{5330DD61-1026-4825-A262-26047B5654BB}"/>
              </a:ext>
            </a:extLst>
          </p:cNvPr>
          <p:cNvSpPr>
            <a:spLocks xmlns:a="http://schemas.openxmlformats.org/drawingml/2006/main" noGrp="1"/>
          </p:cNvSpPr>
          <p:nvPr/>
        </p:nvSpPr>
        <p:spPr>
          <a:xfrm xmlns:a="http://schemas.openxmlformats.org/drawingml/2006/main">
            <a:off x="609600" y="2143125"/>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87C6AD"/>
                </a:solidFill>
                <a:latin typeface="Segoe UI"/>
                <a:ea typeface="Segoe UI"/>
                <a:cs typeface="Segoe UI"/>
              </a:defRPr>
            </a:defPPr>
          </a:lstStyle>
          <a:p xmlns:a="http://schemas.openxmlformats.org/drawingml/2006/main">
            <a:pPr>
              <a:defRPr sz="1725" b="1">
                <a:solidFill>
                  <a:srgbClr val="87C6AD"/>
                </a:solidFill>
                <a:latin typeface="Segoe UI"/>
                <a:ea typeface="Segoe UI"/>
                <a:cs typeface="Segoe UI"/>
              </a:defRPr>
            </a:pPr>
            <a:r>
              <a:rPr sz="1725" b="1">
                <a:solidFill>
                  <a:srgbClr val="87C6AD"/>
                </a:solidFill>
                <a:latin typeface="Segoe UI"/>
                <a:ea typeface="Segoe UI"/>
                <a:cs typeface="Segoe UI"/>
              </a:rPr>
              <a:t>İSTEK</a:t>
            </a:r>
          </a:p>
        </p:txBody>
      </p:sp>
      <p:sp>
        <p:nvSpPr>
          <p:cNvPr id="4" name="">
            <a:extLst xmlns:a="http://schemas.openxmlformats.org/drawingml/2006/main">
              <a:ext uri="{FF2B5EF4-FFF2-40B4-BE49-F238E27FC236}">
                <a16:creationId xmlns:a16="http://schemas.microsoft.com/office/drawing/2014/main" id="{159CD959-C2A7-4A8B-84E8-1F0DB1F42B22}"/>
              </a:ext>
            </a:extLst>
          </p:cNvPr>
          <p:cNvSpPr>
            <a:spLocks xmlns:a="http://schemas.openxmlformats.org/drawingml/2006/main" noGrp="1"/>
          </p:cNvSpPr>
          <p:nvPr/>
        </p:nvSpPr>
        <p:spPr>
          <a:xfrm xmlns:a="http://schemas.openxmlformats.org/drawingml/2006/main">
            <a:off x="609600" y="2781300"/>
            <a:ext cx="3190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Segoe UI"/>
                <a:ea typeface="Segoe UI"/>
                <a:cs typeface="Segoe UI"/>
              </a:defRPr>
            </a:defPPr>
          </a:lstStyle>
          <a:p xmlns:a="http://schemas.openxmlformats.org/drawingml/2006/main">
            <a:pPr>
              <a:defRPr sz="2025" b="0">
                <a:solidFill>
                  <a:srgbClr val="FFFFFF"/>
                </a:solidFill>
                <a:latin typeface="Segoe UI"/>
                <a:ea typeface="Segoe UI"/>
                <a:cs typeface="Segoe UI"/>
              </a:defRPr>
            </a:pPr>
            <a:r>
              <a:rPr sz="2025" b="0">
                <a:solidFill>
                  <a:srgbClr val="FFFFFF"/>
                </a:solidFill>
                <a:latin typeface="Segoe UI"/>
                <a:ea typeface="Segoe UI"/>
                <a:cs typeface="Segoe UI"/>
              </a:rPr>
              <a:t>Yanlış yapılan soruyu,</a:t>
            </a:r>
          </a:p>
          <a:p xmlns:a="http://schemas.openxmlformats.org/drawingml/2006/main">
            <a:pPr>
              <a:defRPr sz="2025" b="0">
                <a:solidFill>
                  <a:srgbClr val="FFFFFF"/>
                </a:solidFill>
                <a:latin typeface="Segoe UI"/>
                <a:ea typeface="Segoe UI"/>
                <a:cs typeface="Segoe UI"/>
              </a:defRPr>
            </a:pPr>
            <a:r>
              <a:rPr sz="2025" b="0">
                <a:solidFill>
                  <a:srgbClr val="FFFFFF"/>
                </a:solidFill>
                <a:latin typeface="Segoe UI"/>
                <a:ea typeface="Segoe UI"/>
                <a:cs typeface="Segoe UI"/>
              </a:rPr>
              <a:t>kazanımını ve önceki</a:t>
            </a:r>
          </a:p>
          <a:p xmlns:a="http://schemas.openxmlformats.org/drawingml/2006/main">
            <a:pPr>
              <a:defRPr sz="2025" b="0">
                <a:solidFill>
                  <a:srgbClr val="FFFFFF"/>
                </a:solidFill>
                <a:latin typeface="Segoe UI"/>
                <a:ea typeface="Segoe UI"/>
                <a:cs typeface="Segoe UI"/>
              </a:defRPr>
            </a:pPr>
            <a:r>
              <a:rPr sz="2025" b="0">
                <a:solidFill>
                  <a:srgbClr val="FFFFFF"/>
                </a:solidFill>
                <a:latin typeface="Segoe UI"/>
                <a:ea typeface="Segoe UI"/>
                <a:cs typeface="Segoe UI"/>
              </a:rPr>
              <a:t>soruları Gemini’ye yollarız.</a:t>
            </a:r>
          </a:p>
        </p:txBody>
      </p:sp>
      <p:sp>
        <p:nvSpPr>
          <p:cNvPr id="5" name="">
            <a:extLst xmlns:a="http://schemas.openxmlformats.org/drawingml/2006/main">
              <a:ext uri="{FF2B5EF4-FFF2-40B4-BE49-F238E27FC236}">
                <a16:creationId xmlns:a16="http://schemas.microsoft.com/office/drawing/2014/main" id="{0AB37264-8C4B-42C7-9DB9-EDBF17406533}"/>
              </a:ext>
            </a:extLst>
          </p:cNvPr>
          <p:cNvSpPr>
            <a:spLocks xmlns:a="http://schemas.openxmlformats.org/drawingml/2006/main" noGrp="1"/>
          </p:cNvSpPr>
          <p:nvPr/>
        </p:nvSpPr>
        <p:spPr>
          <a:xfrm xmlns:a="http://schemas.openxmlformats.org/drawingml/2006/main">
            <a:off x="3895725" y="3286125"/>
            <a:ext cx="381000" cy="238125"/>
          </a:xfrm>
          <a:prstGeom xmlns:a="http://schemas.openxmlformats.org/drawingml/2006/main" prst="rightArrow">
            <a:avLst/>
          </a:prstGeom>
          <a:solidFill xmlns:a="http://schemas.openxmlformats.org/drawingml/2006/main">
            <a:srgbClr val="2B9C8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82FA76D-63E9-4870-BA3C-72B656B97BC7}"/>
              </a:ext>
            </a:extLst>
          </p:cNvPr>
          <p:cNvSpPr>
            <a:spLocks xmlns:a="http://schemas.openxmlformats.org/drawingml/2006/main" noGrp="1"/>
          </p:cNvSpPr>
          <p:nvPr/>
        </p:nvSpPr>
        <p:spPr>
          <a:xfrm xmlns:a="http://schemas.openxmlformats.org/drawingml/2006/main">
            <a:off x="4476750" y="2143125"/>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87C6AD"/>
                </a:solidFill>
                <a:latin typeface="Segoe UI"/>
                <a:ea typeface="Segoe UI"/>
                <a:cs typeface="Segoe UI"/>
              </a:defRPr>
            </a:defPPr>
          </a:lstStyle>
          <a:p xmlns:a="http://schemas.openxmlformats.org/drawingml/2006/main">
            <a:pPr>
              <a:defRPr sz="1725" b="1">
                <a:solidFill>
                  <a:srgbClr val="87C6AD"/>
                </a:solidFill>
                <a:latin typeface="Segoe UI"/>
                <a:ea typeface="Segoe UI"/>
                <a:cs typeface="Segoe UI"/>
              </a:defRPr>
            </a:pPr>
            <a:r>
              <a:rPr sz="1725" b="1">
                <a:solidFill>
                  <a:srgbClr val="87C6AD"/>
                </a:solidFill>
                <a:latin typeface="Segoe UI"/>
                <a:ea typeface="Segoe UI"/>
                <a:cs typeface="Segoe UI"/>
              </a:rPr>
              <a:t>YANIT</a:t>
            </a:r>
          </a:p>
        </p:txBody>
      </p:sp>
      <p:sp>
        <p:nvSpPr>
          <p:cNvPr id="7" name="">
            <a:extLst xmlns:a="http://schemas.openxmlformats.org/drawingml/2006/main">
              <a:ext uri="{FF2B5EF4-FFF2-40B4-BE49-F238E27FC236}">
                <a16:creationId xmlns:a16="http://schemas.microsoft.com/office/drawing/2014/main" id="{B506C592-3DF7-490F-AE3A-4EEBE6226ED6}"/>
              </a:ext>
            </a:extLst>
          </p:cNvPr>
          <p:cNvSpPr>
            <a:spLocks xmlns:a="http://schemas.openxmlformats.org/drawingml/2006/main" noGrp="1"/>
          </p:cNvSpPr>
          <p:nvPr/>
        </p:nvSpPr>
        <p:spPr>
          <a:xfrm xmlns:a="http://schemas.openxmlformats.org/drawingml/2006/main">
            <a:off x="4476750" y="2781300"/>
            <a:ext cx="3190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Segoe UI"/>
                <a:ea typeface="Segoe UI"/>
                <a:cs typeface="Segoe UI"/>
              </a:defRPr>
            </a:defPPr>
          </a:lstStyle>
          <a:p xmlns:a="http://schemas.openxmlformats.org/drawingml/2006/main">
            <a:pPr>
              <a:defRPr sz="2025" b="0">
                <a:solidFill>
                  <a:srgbClr val="FFFFFF"/>
                </a:solidFill>
                <a:latin typeface="Segoe UI"/>
                <a:ea typeface="Segoe UI"/>
                <a:cs typeface="Segoe UI"/>
              </a:defRPr>
            </a:pPr>
            <a:r>
              <a:rPr sz="2025" b="0">
                <a:solidFill>
                  <a:srgbClr val="FFFFFF"/>
                </a:solidFill>
                <a:latin typeface="Segoe UI"/>
                <a:ea typeface="Segoe UI"/>
                <a:cs typeface="Segoe UI"/>
              </a:rPr>
              <a:t>Gelen JSON yanıtının</a:t>
            </a:r>
          </a:p>
          <a:p xmlns:a="http://schemas.openxmlformats.org/drawingml/2006/main">
            <a:pPr>
              <a:defRPr sz="2025" b="0">
                <a:solidFill>
                  <a:srgbClr val="FFFFFF"/>
                </a:solidFill>
                <a:latin typeface="Segoe UI"/>
                <a:ea typeface="Segoe UI"/>
                <a:cs typeface="Segoe UI"/>
              </a:defRPr>
            </a:pPr>
            <a:r>
              <a:rPr sz="2025" b="0">
                <a:solidFill>
                  <a:srgbClr val="FFFFFF"/>
                </a:solidFill>
                <a:latin typeface="Segoe UI"/>
                <a:ea typeface="Segoe UI"/>
                <a:cs typeface="Segoe UI"/>
              </a:rPr>
              <a:t>alanlarını, soru sayısını</a:t>
            </a:r>
          </a:p>
          <a:p xmlns:a="http://schemas.openxmlformats.org/drawingml/2006/main">
            <a:pPr>
              <a:defRPr sz="2025" b="0">
                <a:solidFill>
                  <a:srgbClr val="FFFFFF"/>
                </a:solidFill>
                <a:latin typeface="Segoe UI"/>
                <a:ea typeface="Segoe UI"/>
                <a:cs typeface="Segoe UI"/>
              </a:defRPr>
            </a:pPr>
            <a:r>
              <a:rPr sz="2025" b="0">
                <a:solidFill>
                  <a:srgbClr val="FFFFFF"/>
                </a:solidFill>
                <a:latin typeface="Segoe UI"/>
                <a:ea typeface="Segoe UI"/>
                <a:cs typeface="Segoe UI"/>
              </a:rPr>
              <a:t>ve tekrarlarını kontrol ederiz.</a:t>
            </a:r>
          </a:p>
        </p:txBody>
      </p:sp>
      <p:sp>
        <p:nvSpPr>
          <p:cNvPr id="8" name="">
            <a:extLst xmlns:a="http://schemas.openxmlformats.org/drawingml/2006/main">
              <a:ext uri="{FF2B5EF4-FFF2-40B4-BE49-F238E27FC236}">
                <a16:creationId xmlns:a16="http://schemas.microsoft.com/office/drawing/2014/main" id="{986DB459-3D39-46C7-8846-EAE5BE052F5F}"/>
              </a:ext>
            </a:extLst>
          </p:cNvPr>
          <p:cNvSpPr>
            <a:spLocks xmlns:a="http://schemas.openxmlformats.org/drawingml/2006/main" noGrp="1"/>
          </p:cNvSpPr>
          <p:nvPr/>
        </p:nvSpPr>
        <p:spPr>
          <a:xfrm xmlns:a="http://schemas.openxmlformats.org/drawingml/2006/main">
            <a:off x="7762875" y="3286125"/>
            <a:ext cx="381000" cy="238125"/>
          </a:xfrm>
          <a:prstGeom xmlns:a="http://schemas.openxmlformats.org/drawingml/2006/main" prst="rightArrow">
            <a:avLst/>
          </a:prstGeom>
          <a:solidFill xmlns:a="http://schemas.openxmlformats.org/drawingml/2006/main">
            <a:srgbClr val="2B9C8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35579B6-FCD6-4CBB-AFC7-FC26E601FE84}"/>
              </a:ext>
            </a:extLst>
          </p:cNvPr>
          <p:cNvSpPr>
            <a:spLocks xmlns:a="http://schemas.openxmlformats.org/drawingml/2006/main" noGrp="1"/>
          </p:cNvSpPr>
          <p:nvPr/>
        </p:nvSpPr>
        <p:spPr>
          <a:xfrm xmlns:a="http://schemas.openxmlformats.org/drawingml/2006/main">
            <a:off x="8343900" y="2143125"/>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87C6AD"/>
                </a:solidFill>
                <a:latin typeface="Segoe UI"/>
                <a:ea typeface="Segoe UI"/>
                <a:cs typeface="Segoe UI"/>
              </a:defRPr>
            </a:defPPr>
          </a:lstStyle>
          <a:p xmlns:a="http://schemas.openxmlformats.org/drawingml/2006/main">
            <a:pPr>
              <a:defRPr sz="1725" b="1">
                <a:solidFill>
                  <a:srgbClr val="87C6AD"/>
                </a:solidFill>
                <a:latin typeface="Segoe UI"/>
                <a:ea typeface="Segoe UI"/>
                <a:cs typeface="Segoe UI"/>
              </a:defRPr>
            </a:pPr>
            <a:r>
              <a:rPr sz="1725" b="1">
                <a:solidFill>
                  <a:srgbClr val="87C6AD"/>
                </a:solidFill>
                <a:latin typeface="Segoe UI"/>
                <a:ea typeface="Segoe UI"/>
                <a:cs typeface="Segoe UI"/>
              </a:rPr>
              <a:t>OTURUMA EKLEME</a:t>
            </a:r>
          </a:p>
        </p:txBody>
      </p:sp>
      <p:sp>
        <p:nvSpPr>
          <p:cNvPr id="10" name="">
            <a:extLst xmlns:a="http://schemas.openxmlformats.org/drawingml/2006/main">
              <a:ext uri="{FF2B5EF4-FFF2-40B4-BE49-F238E27FC236}">
                <a16:creationId xmlns:a16="http://schemas.microsoft.com/office/drawing/2014/main" id="{5089DFFA-8C28-44D5-A0CB-C82880A1E6D2}"/>
              </a:ext>
            </a:extLst>
          </p:cNvPr>
          <p:cNvSpPr>
            <a:spLocks xmlns:a="http://schemas.openxmlformats.org/drawingml/2006/main" noGrp="1"/>
          </p:cNvSpPr>
          <p:nvPr/>
        </p:nvSpPr>
        <p:spPr>
          <a:xfrm xmlns:a="http://schemas.openxmlformats.org/drawingml/2006/main">
            <a:off x="8343900" y="2781300"/>
            <a:ext cx="3190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Segoe UI"/>
                <a:ea typeface="Segoe UI"/>
                <a:cs typeface="Segoe UI"/>
              </a:defRPr>
            </a:defPPr>
          </a:lstStyle>
          <a:p xmlns:a="http://schemas.openxmlformats.org/drawingml/2006/main">
            <a:pPr>
              <a:defRPr sz="2025" b="0">
                <a:solidFill>
                  <a:srgbClr val="FFFFFF"/>
                </a:solidFill>
                <a:latin typeface="Segoe UI"/>
                <a:ea typeface="Segoe UI"/>
                <a:cs typeface="Segoe UI"/>
              </a:defRPr>
            </a:pPr>
            <a:r>
              <a:rPr sz="2025" b="0">
                <a:solidFill>
                  <a:srgbClr val="FFFFFF"/>
                </a:solidFill>
                <a:latin typeface="Segoe UI"/>
                <a:ea typeface="Segoe UI"/>
                <a:cs typeface="Segoe UI"/>
              </a:rPr>
              <a:t>Üç farklı destek sorusunu</a:t>
            </a:r>
          </a:p>
          <a:p xmlns:a="http://schemas.openxmlformats.org/drawingml/2006/main">
            <a:pPr>
              <a:defRPr sz="2025" b="0">
                <a:solidFill>
                  <a:srgbClr val="FFFFFF"/>
                </a:solidFill>
                <a:latin typeface="Segoe UI"/>
                <a:ea typeface="Segoe UI"/>
                <a:cs typeface="Segoe UI"/>
              </a:defRPr>
            </a:pPr>
            <a:r>
              <a:rPr sz="2025" b="0">
                <a:solidFill>
                  <a:srgbClr val="FFFFFF"/>
                </a:solidFill>
                <a:latin typeface="Segoe UI"/>
                <a:ea typeface="Segoe UI"/>
                <a:cs typeface="Segoe UI"/>
              </a:rPr>
              <a:t>oturuma ekleriz. Bunlar</a:t>
            </a:r>
          </a:p>
          <a:p xmlns:a="http://schemas.openxmlformats.org/drawingml/2006/main">
            <a:pPr>
              <a:defRPr sz="2025" b="0">
                <a:solidFill>
                  <a:srgbClr val="FFFFFF"/>
                </a:solidFill>
                <a:latin typeface="Segoe UI"/>
                <a:ea typeface="Segoe UI"/>
                <a:cs typeface="Segoe UI"/>
              </a:defRPr>
            </a:pPr>
            <a:r>
              <a:rPr sz="2025" b="0">
                <a:solidFill>
                  <a:srgbClr val="FFFFFF"/>
                </a:solidFill>
                <a:latin typeface="Segoe UI"/>
                <a:ea typeface="Segoe UI"/>
                <a:cs typeface="Segoe UI"/>
              </a:rPr>
              <a:t>ayrı destek olarak kaydedilir.</a:t>
            </a:r>
          </a:p>
        </p:txBody>
      </p:sp>
      <p:sp>
        <p:nvSpPr>
          <p:cNvPr id="11" name="">
            <a:extLst xmlns:a="http://schemas.openxmlformats.org/drawingml/2006/main">
              <a:ext uri="{FF2B5EF4-FFF2-40B4-BE49-F238E27FC236}">
                <a16:creationId xmlns:a16="http://schemas.microsoft.com/office/drawing/2014/main" id="{7086FBD9-7E7A-4968-926A-1C31DB8573F8}"/>
              </a:ext>
            </a:extLst>
          </p:cNvPr>
          <p:cNvSpPr>
            <a:spLocks xmlns:a="http://schemas.openxmlformats.org/drawingml/2006/main" noGrp="1"/>
          </p:cNvSpPr>
          <p:nvPr/>
        </p:nvSpPr>
        <p:spPr>
          <a:xfrm xmlns:a="http://schemas.openxmlformats.org/drawingml/2006/main">
            <a:off x="609600" y="4667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87C6AD"/>
                </a:solidFill>
                <a:latin typeface="Segoe UI"/>
                <a:ea typeface="Segoe UI"/>
                <a:cs typeface="Segoe UI"/>
              </a:defRPr>
            </a:defPPr>
          </a:lstStyle>
          <a:p xmlns:a="http://schemas.openxmlformats.org/drawingml/2006/main">
            <a:pPr>
              <a:defRPr sz="2100" b="1">
                <a:solidFill>
                  <a:srgbClr val="87C6AD"/>
                </a:solidFill>
                <a:latin typeface="Segoe UI"/>
                <a:ea typeface="Segoe UI"/>
                <a:cs typeface="Segoe UI"/>
              </a:defRPr>
            </a:pPr>
            <a:r>
              <a:rPr sz="2100" b="1">
                <a:solidFill>
                  <a:srgbClr val="87C6AD"/>
                </a:solidFill>
                <a:latin typeface="Segoe UI"/>
                <a:ea typeface="Segoe UI"/>
                <a:cs typeface="Segoe UI"/>
              </a:rPr>
              <a:t>Her soruda bulunması gereken alanlar</a:t>
            </a:r>
          </a:p>
        </p:txBody>
      </p:sp>
      <p:sp>
        <p:nvSpPr>
          <p:cNvPr id="12" name="">
            <a:extLst xmlns:a="http://schemas.openxmlformats.org/drawingml/2006/main">
              <a:ext uri="{FF2B5EF4-FFF2-40B4-BE49-F238E27FC236}">
                <a16:creationId xmlns:a16="http://schemas.microsoft.com/office/drawing/2014/main" id="{332E0FF7-5D13-43CA-BE04-8F7BDE61A823}"/>
              </a:ext>
            </a:extLst>
          </p:cNvPr>
          <p:cNvSpPr>
            <a:spLocks xmlns:a="http://schemas.openxmlformats.org/drawingml/2006/main" noGrp="1"/>
          </p:cNvSpPr>
          <p:nvPr/>
        </p:nvSpPr>
        <p:spPr>
          <a:xfrm xmlns:a="http://schemas.openxmlformats.org/drawingml/2006/main">
            <a:off x="609600" y="51911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Segoe UI"/>
                <a:ea typeface="Segoe UI"/>
                <a:cs typeface="Segoe UI"/>
              </a:defRPr>
            </a:defPPr>
          </a:lstStyle>
          <a:p xmlns:a="http://schemas.openxmlformats.org/drawingml/2006/main">
            <a:pPr>
              <a:defRPr sz="2025" b="0">
                <a:solidFill>
                  <a:srgbClr val="FFFFFF"/>
                </a:solidFill>
                <a:latin typeface="Segoe UI"/>
                <a:ea typeface="Segoe UI"/>
                <a:cs typeface="Segoe UI"/>
              </a:defRPr>
            </a:pPr>
            <a:r>
              <a:rPr sz="2025" b="0">
                <a:solidFill>
                  <a:srgbClr val="FFFFFF"/>
                </a:solidFill>
                <a:latin typeface="Segoe UI"/>
                <a:ea typeface="Segoe UI"/>
                <a:cs typeface="Segoe UI"/>
              </a:rPr>
              <a:t>Soru metni, dört seçenek, doğru cevap, ipucu, açıklama ve kazanım</a:t>
            </a:r>
          </a:p>
        </p:txBody>
      </p:sp>
      <p:sp>
        <p:nvSpPr>
          <p:cNvPr id="13" name="">
            <a:extLst xmlns:a="http://schemas.openxmlformats.org/drawingml/2006/main">
              <a:ext uri="{FF2B5EF4-FFF2-40B4-BE49-F238E27FC236}">
                <a16:creationId xmlns:a16="http://schemas.microsoft.com/office/drawing/2014/main" id="{5B890CA3-4003-41EB-8553-F2CD5228B027}"/>
              </a:ext>
            </a:extLst>
          </p:cNvPr>
          <p:cNvSpPr>
            <a:spLocks xmlns:a="http://schemas.openxmlformats.org/drawingml/2006/main" noGrp="1"/>
          </p:cNvSpPr>
          <p:nvPr/>
        </p:nvSpPr>
        <p:spPr>
          <a:xfrm xmlns:a="http://schemas.openxmlformats.org/drawingml/2006/main">
            <a:off x="609600" y="6191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BFDCCD"/>
                </a:solidFill>
                <a:latin typeface="Segoe UI"/>
                <a:ea typeface="Segoe UI"/>
                <a:cs typeface="Segoe UI"/>
              </a:defRPr>
            </a:defPPr>
          </a:lstStyle>
          <a:p xmlns:a="http://schemas.openxmlformats.org/drawingml/2006/main">
            <a:pPr>
              <a:defRPr sz="1500" b="0">
                <a:solidFill>
                  <a:srgbClr val="BFDCCD"/>
                </a:solidFill>
                <a:latin typeface="Segoe UI"/>
                <a:ea typeface="Segoe UI"/>
                <a:cs typeface="Segoe UI"/>
              </a:defRPr>
            </a:pPr>
            <a:r>
              <a:rPr sz="1500" b="0">
                <a:solidFill>
                  <a:srgbClr val="BFDCCD"/>
                </a:solidFill>
                <a:latin typeface="Segoe UI"/>
                <a:ea typeface="Segoe UI"/>
                <a:cs typeface="Segoe UI"/>
              </a:rPr>
              <a:t>API yanıt vermezse öğrenci hazır sorularla çalışmaya devam eder.</a:t>
            </a:r>
          </a:p>
        </p:txBody>
      </p:sp>
    </p:spTree>
    <p:extLst>
      <p:ext uri="{BB962C8B-B14F-4D97-AF65-F5344CB8AC3E}">
        <p14:creationId xmlns:p14="http://schemas.microsoft.com/office/powerpoint/2010/main" val="795190125"/>
      </p:ext>
    </p:extLst>
  </p:cSld>
</p:sld>
</file>

<file path=ppt/slides/slide8.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0C523D-D79B-4C25-B28F-66EC262FE450}"/>
              </a:ext>
            </a:extLst>
          </p:cNvPr>
          <p:cNvSpPr>
            <a:spLocks xmlns:a="http://schemas.openxmlformats.org/drawingml/2006/main" noGrp="1"/>
          </p:cNvSpPr>
          <p:nvPr/>
        </p:nvSpPr>
        <p:spPr>
          <a:xfrm xmlns:a="http://schemas.openxmlformats.org/drawingml/2006/main">
            <a:off x="609600" y="285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B9C80"/>
                </a:solidFill>
                <a:latin typeface="Segoe UI"/>
                <a:ea typeface="Segoe UI"/>
                <a:cs typeface="Segoe UI"/>
              </a:defRPr>
            </a:defPPr>
          </a:lstStyle>
          <a:p xmlns:a="http://schemas.openxmlformats.org/drawingml/2006/main">
            <a:pPr>
              <a:defRPr sz="1200" b="1">
                <a:solidFill>
                  <a:srgbClr val="2B9C80"/>
                </a:solidFill>
                <a:latin typeface="Segoe UI"/>
                <a:ea typeface="Segoe UI"/>
                <a:cs typeface="Segoe UI"/>
              </a:defRPr>
            </a:pPr>
            <a:r>
              <a:rPr sz="1200" b="1">
                <a:solidFill>
                  <a:srgbClr val="2B9C80"/>
                </a:solidFill>
                <a:latin typeface="Segoe UI"/>
                <a:ea typeface="Segoe UI"/>
                <a:cs typeface="Segoe UI"/>
              </a:rPr>
              <a:t>ÖĞRENME MOLASI</a:t>
            </a:r>
          </a:p>
        </p:txBody>
      </p:sp>
      <p:sp>
        <p:nvSpPr>
          <p:cNvPr id="2" name="">
            <a:extLst xmlns:a="http://schemas.openxmlformats.org/drawingml/2006/main">
              <a:ext uri="{FF2B5EF4-FFF2-40B4-BE49-F238E27FC236}">
                <a16:creationId xmlns:a16="http://schemas.microsoft.com/office/drawing/2014/main" id="{56D27B81-42F1-44D7-BED5-D52A20B10DD9}"/>
              </a:ext>
            </a:extLst>
          </p:cNvPr>
          <p:cNvSpPr>
            <a:spLocks xmlns:a="http://schemas.openxmlformats.org/drawingml/2006/main" noGrp="1"/>
          </p:cNvSpPr>
          <p:nvPr/>
        </p:nvSpPr>
        <p:spPr>
          <a:xfrm xmlns:a="http://schemas.openxmlformats.org/drawingml/2006/main">
            <a:off x="609600" y="857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2B3C"/>
                </a:solidFill>
                <a:latin typeface="Segoe UI"/>
                <a:ea typeface="Segoe UI"/>
                <a:cs typeface="Segoe UI"/>
              </a:defRPr>
            </a:defPPr>
          </a:lstStyle>
          <a:p xmlns:a="http://schemas.openxmlformats.org/drawingml/2006/main">
            <a:pPr>
              <a:defRPr sz="3300" b="1">
                <a:solidFill>
                  <a:srgbClr val="152B3C"/>
                </a:solidFill>
                <a:latin typeface="Segoe UI"/>
                <a:ea typeface="Segoe UI"/>
                <a:cs typeface="Segoe UI"/>
              </a:defRPr>
            </a:pPr>
            <a:r>
              <a:rPr sz="3300" b="1">
                <a:solidFill>
                  <a:srgbClr val="152B3C"/>
                </a:solidFill>
                <a:latin typeface="Segoe UI"/>
                <a:ea typeface="Segoe UI"/>
                <a:cs typeface="Segoe UI"/>
              </a:rPr>
              <a:t>Yardım istendiğinde işlemli matematik çözümü</a:t>
            </a:r>
          </a:p>
        </p:txBody>
      </p:sp>
      <p:sp>
        <p:nvSpPr>
          <p:cNvPr id="3" name="">
            <a:extLst xmlns:a="http://schemas.openxmlformats.org/drawingml/2006/main">
              <a:ext uri="{FF2B5EF4-FFF2-40B4-BE49-F238E27FC236}">
                <a16:creationId xmlns:a16="http://schemas.microsoft.com/office/drawing/2014/main" id="{DC719FDC-4410-408B-9450-94188C6AB1DA}"/>
              </a:ext>
            </a:extLst>
          </p:cNvPr>
          <p:cNvSpPr>
            <a:spLocks xmlns:a="http://schemas.openxmlformats.org/drawingml/2006/main" noGrp="1"/>
          </p:cNvSpPr>
          <p:nvPr/>
        </p:nvSpPr>
        <p:spPr>
          <a:xfrm xmlns:a="http://schemas.openxmlformats.org/drawingml/2006/main">
            <a:off x="609600" y="20955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7352C7"/>
                </a:solidFill>
                <a:latin typeface="Segoe UI"/>
                <a:ea typeface="Segoe UI"/>
                <a:cs typeface="Segoe UI"/>
              </a:defRPr>
            </a:defPPr>
          </a:lstStyle>
          <a:p xmlns:a="http://schemas.openxmlformats.org/drawingml/2006/main">
            <a:pPr>
              <a:defRPr sz="2625" b="1">
                <a:solidFill>
                  <a:srgbClr val="7352C7"/>
                </a:solidFill>
                <a:latin typeface="Segoe UI"/>
                <a:ea typeface="Segoe UI"/>
                <a:cs typeface="Segoe UI"/>
              </a:defRPr>
            </a:pPr>
            <a:r>
              <a:rPr sz="2625" b="1">
                <a:solidFill>
                  <a:srgbClr val="7352C7"/>
                </a:solidFill>
                <a:latin typeface="Segoe UI"/>
                <a:ea typeface="Segoe UI"/>
                <a:cs typeface="Segoe UI"/>
              </a:rPr>
              <a:t>“Bu soruyu anlat”</a:t>
            </a:r>
          </a:p>
        </p:txBody>
      </p:sp>
      <p:sp>
        <p:nvSpPr>
          <p:cNvPr id="4" name="">
            <a:extLst xmlns:a="http://schemas.openxmlformats.org/drawingml/2006/main">
              <a:ext uri="{FF2B5EF4-FFF2-40B4-BE49-F238E27FC236}">
                <a16:creationId xmlns:a16="http://schemas.microsoft.com/office/drawing/2014/main" id="{F16213C4-10FD-4FDE-8F49-5A35C1BDA58D}"/>
              </a:ext>
            </a:extLst>
          </p:cNvPr>
          <p:cNvSpPr>
            <a:spLocks xmlns:a="http://schemas.openxmlformats.org/drawingml/2006/main" noGrp="1"/>
          </p:cNvSpPr>
          <p:nvPr/>
        </p:nvSpPr>
        <p:spPr>
          <a:xfrm xmlns:a="http://schemas.openxmlformats.org/drawingml/2006/main">
            <a:off x="609600" y="276225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52B3C"/>
                </a:solidFill>
                <a:latin typeface="Segoe UI"/>
                <a:ea typeface="Segoe UI"/>
                <a:cs typeface="Segoe UI"/>
              </a:defRPr>
            </a:defPPr>
          </a:lstStyle>
          <a:p xmlns:a="http://schemas.openxmlformats.org/drawingml/2006/main">
            <a:pPr>
              <a:defRPr sz="2250" b="0">
                <a:solidFill>
                  <a:srgbClr val="152B3C"/>
                </a:solidFill>
                <a:latin typeface="Segoe UI"/>
                <a:ea typeface="Segoe UI"/>
                <a:cs typeface="Segoe UI"/>
              </a:defRPr>
            </a:pPr>
            <a:r>
              <a:rPr sz="2250" b="0">
                <a:solidFill>
                  <a:srgbClr val="152B3C"/>
                </a:solidFill>
                <a:latin typeface="Segoe UI"/>
                <a:ea typeface="Segoe UI"/>
                <a:cs typeface="Segoe UI"/>
              </a:rPr>
              <a:t>Öğrenci yardım istediğinde Gemini</a:t>
            </a:r>
          </a:p>
          <a:p xmlns:a="http://schemas.openxmlformats.org/drawingml/2006/main">
            <a:pPr>
              <a:defRPr sz="2250" b="0">
                <a:solidFill>
                  <a:srgbClr val="152B3C"/>
                </a:solidFill>
                <a:latin typeface="Segoe UI"/>
                <a:ea typeface="Segoe UI"/>
                <a:cs typeface="Segoe UI"/>
              </a:defRPr>
            </a:pPr>
            <a:r>
              <a:rPr sz="2250" b="0">
                <a:solidFill>
                  <a:srgbClr val="152B3C"/>
                </a:solidFill>
                <a:latin typeface="Segoe UI"/>
                <a:ea typeface="Segoe UI"/>
                <a:cs typeface="Segoe UI"/>
              </a:rPr>
              <a:t>soruyu işlem adımlarına ayırır.</a:t>
            </a:r>
          </a:p>
          <a:p xmlns:a="http://schemas.openxmlformats.org/drawingml/2006/main">
            <a:pPr>
              <a:defRPr sz="2250" b="0">
                <a:solidFill>
                  <a:srgbClr val="152B3C"/>
                </a:solidFill>
                <a:latin typeface="Segoe UI"/>
                <a:ea typeface="Segoe UI"/>
                <a:cs typeface="Segoe UI"/>
              </a:defRPr>
            </a:pPr>
            <a:r>
              <a:rPr sz="2250" b="0">
                <a:solidFill>
                  <a:srgbClr val="152B3C"/>
                </a:solidFill>
                <a:latin typeface="Segoe UI"/>
                <a:ea typeface="Segoe UI"/>
                <a:cs typeface="Segoe UI"/>
              </a:rPr>
              <a:t>Çocuk her adımı görür ve dinler.</a:t>
            </a:r>
          </a:p>
        </p:txBody>
      </p:sp>
      <p:sp>
        <p:nvSpPr>
          <p:cNvPr id="5" name="">
            <a:extLst xmlns:a="http://schemas.openxmlformats.org/drawingml/2006/main">
              <a:ext uri="{FF2B5EF4-FFF2-40B4-BE49-F238E27FC236}">
                <a16:creationId xmlns:a16="http://schemas.microsoft.com/office/drawing/2014/main" id="{9C28F48B-6E6D-4824-A79B-AEE1AE99DC77}"/>
              </a:ext>
            </a:extLst>
          </p:cNvPr>
          <p:cNvSpPr>
            <a:spLocks xmlns:a="http://schemas.openxmlformats.org/drawingml/2006/main" noGrp="1"/>
          </p:cNvSpPr>
          <p:nvPr/>
        </p:nvSpPr>
        <p:spPr>
          <a:xfrm xmlns:a="http://schemas.openxmlformats.org/drawingml/2006/main">
            <a:off x="6858000" y="2333625"/>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2B9C80"/>
                </a:solidFill>
                <a:latin typeface="Segoe UI"/>
                <a:ea typeface="Segoe UI"/>
                <a:cs typeface="Segoe UI"/>
              </a:defRPr>
            </a:defPPr>
          </a:lstStyle>
          <a:p xmlns:a="http://schemas.openxmlformats.org/drawingml/2006/main">
            <a:pPr>
              <a:defRPr sz="4800" b="1">
                <a:solidFill>
                  <a:srgbClr val="2B9C80"/>
                </a:solidFill>
                <a:latin typeface="Segoe UI"/>
                <a:ea typeface="Segoe UI"/>
                <a:cs typeface="Segoe UI"/>
              </a:defRPr>
            </a:pPr>
            <a:r>
              <a:rPr sz="4800" b="1">
                <a:solidFill>
                  <a:srgbClr val="2B9C80"/>
                </a:solidFill>
                <a:latin typeface="Segoe UI"/>
                <a:ea typeface="Segoe UI"/>
                <a:cs typeface="Segoe UI"/>
              </a:rPr>
              <a:t>7 + 5 = 12</a:t>
            </a:r>
          </a:p>
        </p:txBody>
      </p:sp>
      <p:sp>
        <p:nvSpPr>
          <p:cNvPr id="6" name="">
            <a:extLst xmlns:a="http://schemas.openxmlformats.org/drawingml/2006/main">
              <a:ext uri="{FF2B5EF4-FFF2-40B4-BE49-F238E27FC236}">
                <a16:creationId xmlns:a16="http://schemas.microsoft.com/office/drawing/2014/main" id="{95E60DDD-8F00-4467-A8B9-08BC8ABA3949}"/>
              </a:ext>
            </a:extLst>
          </p:cNvPr>
          <p:cNvSpPr>
            <a:spLocks xmlns:a="http://schemas.openxmlformats.org/drawingml/2006/main" noGrp="1"/>
          </p:cNvSpPr>
          <p:nvPr/>
        </p:nvSpPr>
        <p:spPr>
          <a:xfrm xmlns:a="http://schemas.openxmlformats.org/drawingml/2006/main">
            <a:off x="7143750" y="3333750"/>
            <a:ext cx="4191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152B3C"/>
                </a:solidFill>
                <a:latin typeface="Segoe UI"/>
                <a:ea typeface="Segoe UI"/>
                <a:cs typeface="Segoe UI"/>
              </a:defRPr>
            </a:defPPr>
          </a:lstStyle>
          <a:p xmlns:a="http://schemas.openxmlformats.org/drawingml/2006/main">
            <a:pPr>
              <a:defRPr sz="2850" b="0">
                <a:solidFill>
                  <a:srgbClr val="152B3C"/>
                </a:solidFill>
                <a:latin typeface="Segoe UI"/>
                <a:ea typeface="Segoe UI"/>
                <a:cs typeface="Segoe UI"/>
              </a:defRPr>
            </a:pPr>
            <a:r>
              <a:rPr sz="2850" b="0">
                <a:solidFill>
                  <a:srgbClr val="152B3C"/>
                </a:solidFill>
                <a:latin typeface="Segoe UI"/>
                <a:ea typeface="Segoe UI"/>
                <a:cs typeface="Segoe UI"/>
              </a:rPr>
              <a:t>7 + 3 = 10</a:t>
            </a:r>
          </a:p>
          <a:p xmlns:a="http://schemas.openxmlformats.org/drawingml/2006/main">
            <a:pPr>
              <a:defRPr sz="2850" b="0">
                <a:solidFill>
                  <a:srgbClr val="152B3C"/>
                </a:solidFill>
                <a:latin typeface="Segoe UI"/>
                <a:ea typeface="Segoe UI"/>
                <a:cs typeface="Segoe UI"/>
              </a:defRPr>
            </a:pPr>
            <a:r>
              <a:rPr sz="2850" b="0">
                <a:solidFill>
                  <a:srgbClr val="152B3C"/>
                </a:solidFill>
                <a:latin typeface="Segoe UI"/>
                <a:ea typeface="Segoe UI"/>
                <a:cs typeface="Segoe UI"/>
              </a:rPr>
              <a:t>5 − 3 = 2</a:t>
            </a:r>
          </a:p>
          <a:p xmlns:a="http://schemas.openxmlformats.org/drawingml/2006/main">
            <a:pPr>
              <a:defRPr sz="2850" b="0">
                <a:solidFill>
                  <a:srgbClr val="152B3C"/>
                </a:solidFill>
                <a:latin typeface="Segoe UI"/>
                <a:ea typeface="Segoe UI"/>
                <a:cs typeface="Segoe UI"/>
              </a:defRPr>
            </a:pPr>
            <a:r>
              <a:rPr sz="2850" b="0">
                <a:solidFill>
                  <a:srgbClr val="152B3C"/>
                </a:solidFill>
                <a:latin typeface="Segoe UI"/>
                <a:ea typeface="Segoe UI"/>
                <a:cs typeface="Segoe UI"/>
              </a:rPr>
              <a:t>10 + 2 = 12</a:t>
            </a:r>
          </a:p>
        </p:txBody>
      </p:sp>
      <p:sp>
        <p:nvSpPr>
          <p:cNvPr id="7" name="">
            <a:extLst xmlns:a="http://schemas.openxmlformats.org/drawingml/2006/main">
              <a:ext uri="{FF2B5EF4-FFF2-40B4-BE49-F238E27FC236}">
                <a16:creationId xmlns:a16="http://schemas.microsoft.com/office/drawing/2014/main" id="{7D14663B-776F-4972-B6A9-27E7057DF318}"/>
              </a:ext>
            </a:extLst>
          </p:cNvPr>
          <p:cNvSpPr>
            <a:spLocks xmlns:a="http://schemas.openxmlformats.org/drawingml/2006/main" noGrp="1"/>
          </p:cNvSpPr>
          <p:nvPr/>
        </p:nvSpPr>
        <p:spPr>
          <a:xfrm xmlns:a="http://schemas.openxmlformats.org/drawingml/2006/main">
            <a:off x="609600" y="51911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2B3C"/>
                </a:solidFill>
                <a:latin typeface="Segoe UI"/>
                <a:ea typeface="Segoe UI"/>
                <a:cs typeface="Segoe UI"/>
              </a:defRPr>
            </a:defPPr>
          </a:lstStyle>
          <a:p xmlns:a="http://schemas.openxmlformats.org/drawingml/2006/main">
            <a:pPr>
              <a:defRPr sz="1875" b="0">
                <a:solidFill>
                  <a:srgbClr val="152B3C"/>
                </a:solidFill>
                <a:latin typeface="Segoe UI"/>
                <a:ea typeface="Segoe UI"/>
                <a:cs typeface="Segoe UI"/>
              </a:defRPr>
            </a:pPr>
            <a:r>
              <a:rPr sz="1875" b="0">
                <a:solidFill>
                  <a:srgbClr val="152B3C"/>
                </a:solidFill>
                <a:latin typeface="Segoe UI"/>
                <a:ea typeface="Segoe UI"/>
                <a:cs typeface="Segoe UI"/>
              </a:rPr>
              <a:t>Çözümün veri yapısı ve son cevabı kayıtlı seçenekle karşılaştırılır.</a:t>
            </a:r>
          </a:p>
          <a:p xmlns:a="http://schemas.openxmlformats.org/drawingml/2006/main">
            <a:pPr>
              <a:defRPr sz="1875" b="0">
                <a:solidFill>
                  <a:srgbClr val="152B3C"/>
                </a:solidFill>
                <a:latin typeface="Segoe UI"/>
                <a:ea typeface="Segoe UI"/>
                <a:cs typeface="Segoe UI"/>
              </a:defRPr>
            </a:pPr>
            <a:r>
              <a:rPr sz="1875" b="0">
                <a:solidFill>
                  <a:srgbClr val="152B3C"/>
                </a:solidFill>
                <a:latin typeface="Segoe UI"/>
                <a:ea typeface="Segoe UI"/>
                <a:cs typeface="Segoe UI"/>
              </a:rPr>
              <a:t>Aynı soruda çözüm yeniden kullanılır; API hata verirse mevcut anlatım sürer.</a:t>
            </a:r>
          </a:p>
        </p:txBody>
      </p:sp>
      <p:sp>
        <p:nvSpPr>
          <p:cNvPr id="8" name="">
            <a:extLst xmlns:a="http://schemas.openxmlformats.org/drawingml/2006/main">
              <a:ext uri="{FF2B5EF4-FFF2-40B4-BE49-F238E27FC236}">
                <a16:creationId xmlns:a16="http://schemas.microsoft.com/office/drawing/2014/main" id="{0BC39ED7-BD98-4735-A19A-BC566D677152}"/>
              </a:ext>
            </a:extLst>
          </p:cNvPr>
          <p:cNvSpPr>
            <a:spLocks xmlns:a="http://schemas.openxmlformats.org/drawingml/2006/main" noGrp="1"/>
          </p:cNvSpPr>
          <p:nvPr/>
        </p:nvSpPr>
        <p:spPr>
          <a:xfrm xmlns:a="http://schemas.openxmlformats.org/drawingml/2006/main">
            <a:off x="609600" y="61912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6747E"/>
                </a:solidFill>
                <a:latin typeface="Segoe UI"/>
                <a:ea typeface="Segoe UI"/>
                <a:cs typeface="Segoe UI"/>
              </a:defRPr>
            </a:defPPr>
          </a:lstStyle>
          <a:p xmlns:a="http://schemas.openxmlformats.org/drawingml/2006/main">
            <a:pPr>
              <a:defRPr sz="1500" b="0">
                <a:solidFill>
                  <a:srgbClr val="66747E"/>
                </a:solidFill>
                <a:latin typeface="Segoe UI"/>
                <a:ea typeface="Segoe UI"/>
                <a:cs typeface="Segoe UI"/>
              </a:defRPr>
            </a:pPr>
            <a:r>
              <a:rPr sz="1500" b="0">
                <a:solidFill>
                  <a:srgbClr val="66747E"/>
                </a:solidFill>
                <a:latin typeface="Segoe UI"/>
                <a:ea typeface="Segoe UI"/>
                <a:cs typeface="Segoe UI"/>
              </a:rPr>
              <a:t>Sağdaki işlemler temsili anlatım örneğidir; yapay zekâ yanıtı ayrıca kontrol edilmelidir.</a:t>
            </a:r>
          </a:p>
        </p:txBody>
      </p:sp>
    </p:spTree>
    <p:extLst>
      <p:ext uri="{BB962C8B-B14F-4D97-AF65-F5344CB8AC3E}">
        <p14:creationId xmlns:p14="http://schemas.microsoft.com/office/powerpoint/2010/main" val="1186954580"/>
      </p:ext>
    </p:extLst>
  </p:cSld>
</p:sld>
</file>

<file path=ppt/slides/slide9.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EADB8FD-30EE-484F-BED4-28283D0E023D}"/>
              </a:ext>
            </a:extLst>
          </p:cNvPr>
          <p:cNvSpPr>
            <a:spLocks xmlns:a="http://schemas.openxmlformats.org/drawingml/2006/main" noGrp="1"/>
          </p:cNvSpPr>
          <p:nvPr/>
        </p:nvSpPr>
        <p:spPr>
          <a:xfrm xmlns:a="http://schemas.openxmlformats.org/drawingml/2006/main">
            <a:off x="609600" y="285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B9C80"/>
                </a:solidFill>
                <a:latin typeface="Segoe UI"/>
                <a:ea typeface="Segoe UI"/>
                <a:cs typeface="Segoe UI"/>
              </a:defRPr>
            </a:defPPr>
          </a:lstStyle>
          <a:p xmlns:a="http://schemas.openxmlformats.org/drawingml/2006/main">
            <a:pPr>
              <a:defRPr sz="1200" b="1">
                <a:solidFill>
                  <a:srgbClr val="2B9C80"/>
                </a:solidFill>
                <a:latin typeface="Segoe UI"/>
                <a:ea typeface="Segoe UI"/>
                <a:cs typeface="Segoe UI"/>
              </a:defRPr>
            </a:pPr>
            <a:r>
              <a:rPr sz="1200" b="1">
                <a:solidFill>
                  <a:srgbClr val="2B9C80"/>
                </a:solidFill>
                <a:latin typeface="Segoe UI"/>
                <a:ea typeface="Segoe UI"/>
                <a:cs typeface="Segoe UI"/>
              </a:rPr>
              <a:t>ÖĞRENME MOLASI</a:t>
            </a:r>
          </a:p>
        </p:txBody>
      </p:sp>
      <p:sp>
        <p:nvSpPr>
          <p:cNvPr id="2" name="">
            <a:extLst xmlns:a="http://schemas.openxmlformats.org/drawingml/2006/main">
              <a:ext uri="{FF2B5EF4-FFF2-40B4-BE49-F238E27FC236}">
                <a16:creationId xmlns:a16="http://schemas.microsoft.com/office/drawing/2014/main" id="{188C34BE-F237-4E90-964D-0A237EA22CA4}"/>
              </a:ext>
            </a:extLst>
          </p:cNvPr>
          <p:cNvSpPr>
            <a:spLocks xmlns:a="http://schemas.openxmlformats.org/drawingml/2006/main" noGrp="1"/>
          </p:cNvSpPr>
          <p:nvPr/>
        </p:nvSpPr>
        <p:spPr>
          <a:xfrm xmlns:a="http://schemas.openxmlformats.org/drawingml/2006/main">
            <a:off x="609600" y="857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2B3C"/>
                </a:solidFill>
                <a:latin typeface="Segoe UI"/>
                <a:ea typeface="Segoe UI"/>
                <a:cs typeface="Segoe UI"/>
              </a:defRPr>
            </a:defPPr>
          </a:lstStyle>
          <a:p xmlns:a="http://schemas.openxmlformats.org/drawingml/2006/main">
            <a:pPr>
              <a:defRPr sz="3300" b="1">
                <a:solidFill>
                  <a:srgbClr val="152B3C"/>
                </a:solidFill>
                <a:latin typeface="Segoe UI"/>
                <a:ea typeface="Segoe UI"/>
                <a:cs typeface="Segoe UI"/>
              </a:defRPr>
            </a:pPr>
            <a:r>
              <a:rPr sz="3300" b="1">
                <a:solidFill>
                  <a:srgbClr val="152B3C"/>
                </a:solidFill>
                <a:latin typeface="Segoe UI"/>
                <a:ea typeface="Segoe UI"/>
                <a:cs typeface="Segoe UI"/>
              </a:rPr>
              <a:t>Zamanlama ve oturum kontrolü</a:t>
            </a:r>
          </a:p>
        </p:txBody>
      </p:sp>
      <p:sp>
        <p:nvSpPr>
          <p:cNvPr id="3" name="">
            <a:extLst xmlns:a="http://schemas.openxmlformats.org/drawingml/2006/main">
              <a:ext uri="{FF2B5EF4-FFF2-40B4-BE49-F238E27FC236}">
                <a16:creationId xmlns:a16="http://schemas.microsoft.com/office/drawing/2014/main" id="{E71F2C4B-3CC5-4383-BF0C-5A57C23FC381}"/>
              </a:ext>
            </a:extLst>
          </p:cNvPr>
          <p:cNvSpPr>
            <a:spLocks xmlns:a="http://schemas.openxmlformats.org/drawingml/2006/main" noGrp="1"/>
          </p:cNvSpPr>
          <p:nvPr/>
        </p:nvSpPr>
        <p:spPr>
          <a:xfrm xmlns:a="http://schemas.openxmlformats.org/drawingml/2006/main">
            <a:off x="609600" y="2238375"/>
            <a:ext cx="3143250" cy="1428750"/>
          </a:xfrm>
          <a:prstGeom xmlns:a="http://schemas.openxmlformats.org/drawingml/2006/main" prst="rect">
            <a:avLst/>
          </a:prstGeom>
          <a:solidFill xmlns:a="http://schemas.openxmlformats.org/drawingml/2006/main">
            <a:srgbClr val="E8E4F5"/>
          </a:solidFill>
          <a:ln xmlns:a="http://schemas.openxmlformats.org/drawingml/2006/main" w="9525">
            <a:solidFill>
              <a:srgbClr val="7352C7"/>
            </a:solidFill>
          </a:ln>
        </p:spPr>
      </p:sp>
      <p:sp>
        <p:nvSpPr>
          <p:cNvPr id="4" name="">
            <a:extLst xmlns:a="http://schemas.openxmlformats.org/drawingml/2006/main">
              <a:ext uri="{FF2B5EF4-FFF2-40B4-BE49-F238E27FC236}">
                <a16:creationId xmlns:a16="http://schemas.microsoft.com/office/drawing/2014/main" id="{06F359DE-220D-413E-836D-D9BFCFF3404B}"/>
              </a:ext>
            </a:extLst>
          </p:cNvPr>
          <p:cNvSpPr>
            <a:spLocks xmlns:a="http://schemas.openxmlformats.org/drawingml/2006/main" noGrp="1"/>
          </p:cNvSpPr>
          <p:nvPr/>
        </p:nvSpPr>
        <p:spPr>
          <a:xfrm xmlns:a="http://schemas.openxmlformats.org/drawingml/2006/main">
            <a:off x="781050" y="2381250"/>
            <a:ext cx="2800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52B3C"/>
                </a:solidFill>
                <a:latin typeface="Segoe UI"/>
                <a:ea typeface="Segoe UI"/>
                <a:cs typeface="Segoe UI"/>
              </a:defRPr>
            </a:defPPr>
          </a:lstStyle>
          <a:p xmlns:a="http://schemas.openxmlformats.org/drawingml/2006/main">
            <a:pPr>
              <a:defRPr sz="2025" b="1">
                <a:solidFill>
                  <a:srgbClr val="152B3C"/>
                </a:solidFill>
                <a:latin typeface="Segoe UI"/>
                <a:ea typeface="Segoe UI"/>
                <a:cs typeface="Segoe UI"/>
              </a:defRPr>
            </a:pPr>
            <a:r>
              <a:rPr sz="2025" b="1">
                <a:solidFill>
                  <a:srgbClr val="152B3C"/>
                </a:solidFill>
                <a:latin typeface="Segoe UI"/>
                <a:ea typeface="Segoe UI"/>
                <a:cs typeface="Segoe UI"/>
              </a:rPr>
              <a:t>Veli tarih/saat seçer</a:t>
            </a:r>
          </a:p>
        </p:txBody>
      </p:sp>
      <p:sp>
        <p:nvSpPr>
          <p:cNvPr id="5" name="">
            <a:extLst xmlns:a="http://schemas.openxmlformats.org/drawingml/2006/main">
              <a:ext uri="{FF2B5EF4-FFF2-40B4-BE49-F238E27FC236}">
                <a16:creationId xmlns:a16="http://schemas.microsoft.com/office/drawing/2014/main" id="{6A4AEE50-5F26-4936-B334-F985DE68745E}"/>
              </a:ext>
            </a:extLst>
          </p:cNvPr>
          <p:cNvSpPr>
            <a:spLocks xmlns:a="http://schemas.openxmlformats.org/drawingml/2006/main" noGrp="1"/>
          </p:cNvSpPr>
          <p:nvPr/>
        </p:nvSpPr>
        <p:spPr>
          <a:xfrm xmlns:a="http://schemas.openxmlformats.org/drawingml/2006/main">
            <a:off x="781050" y="2924175"/>
            <a:ext cx="2800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52B3C"/>
                </a:solidFill>
                <a:latin typeface="Segoe UI"/>
                <a:ea typeface="Segoe UI"/>
                <a:cs typeface="Segoe UI"/>
              </a:defRPr>
            </a:defPPr>
          </a:lstStyle>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Veli, çalışmanın açılacağı</a:t>
            </a:r>
          </a:p>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tarih ve saati kaydeder.</a:t>
            </a:r>
          </a:p>
        </p:txBody>
      </p:sp>
      <p:sp>
        <p:nvSpPr>
          <p:cNvPr id="6" name="">
            <a:extLst xmlns:a="http://schemas.openxmlformats.org/drawingml/2006/main">
              <a:ext uri="{FF2B5EF4-FFF2-40B4-BE49-F238E27FC236}">
                <a16:creationId xmlns:a16="http://schemas.microsoft.com/office/drawing/2014/main" id="{4258DE6E-64C9-4288-80B9-E33DB05FAFA6}"/>
              </a:ext>
            </a:extLst>
          </p:cNvPr>
          <p:cNvSpPr>
            <a:spLocks xmlns:a="http://schemas.openxmlformats.org/drawingml/2006/main" noGrp="1"/>
          </p:cNvSpPr>
          <p:nvPr/>
        </p:nvSpPr>
        <p:spPr>
          <a:xfrm xmlns:a="http://schemas.openxmlformats.org/drawingml/2006/main">
            <a:off x="3905250" y="2838450"/>
            <a:ext cx="428625" cy="238125"/>
          </a:xfrm>
          <a:prstGeom xmlns:a="http://schemas.openxmlformats.org/drawingml/2006/main" prst="rightArrow">
            <a:avLst/>
          </a:prstGeom>
          <a:solidFill xmlns:a="http://schemas.openxmlformats.org/drawingml/2006/main">
            <a:srgbClr val="2B9C8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9542DA-5E3B-4317-9A4E-8C076D3B90ED}"/>
              </a:ext>
            </a:extLst>
          </p:cNvPr>
          <p:cNvSpPr>
            <a:spLocks xmlns:a="http://schemas.openxmlformats.org/drawingml/2006/main" noGrp="1"/>
          </p:cNvSpPr>
          <p:nvPr/>
        </p:nvSpPr>
        <p:spPr>
          <a:xfrm xmlns:a="http://schemas.openxmlformats.org/drawingml/2006/main">
            <a:off x="4476750" y="2238375"/>
            <a:ext cx="3143250" cy="1428750"/>
          </a:xfrm>
          <a:prstGeom xmlns:a="http://schemas.openxmlformats.org/drawingml/2006/main" prst="rect">
            <a:avLst/>
          </a:prstGeom>
          <a:solidFill xmlns:a="http://schemas.openxmlformats.org/drawingml/2006/main">
            <a:srgbClr val="E8E4F5"/>
          </a:solidFill>
          <a:ln xmlns:a="http://schemas.openxmlformats.org/drawingml/2006/main" w="9525">
            <a:solidFill>
              <a:srgbClr val="7352C7"/>
            </a:solidFill>
          </a:ln>
        </p:spPr>
      </p:sp>
      <p:sp>
        <p:nvSpPr>
          <p:cNvPr id="8" name="">
            <a:extLst xmlns:a="http://schemas.openxmlformats.org/drawingml/2006/main">
              <a:ext uri="{FF2B5EF4-FFF2-40B4-BE49-F238E27FC236}">
                <a16:creationId xmlns:a16="http://schemas.microsoft.com/office/drawing/2014/main" id="{D1F290EE-B42A-44A8-9ABB-D7513C4DDC26}"/>
              </a:ext>
            </a:extLst>
          </p:cNvPr>
          <p:cNvSpPr>
            <a:spLocks xmlns:a="http://schemas.openxmlformats.org/drawingml/2006/main" noGrp="1"/>
          </p:cNvSpPr>
          <p:nvPr/>
        </p:nvSpPr>
        <p:spPr>
          <a:xfrm xmlns:a="http://schemas.openxmlformats.org/drawingml/2006/main">
            <a:off x="4648200" y="2381250"/>
            <a:ext cx="2800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52B3C"/>
                </a:solidFill>
                <a:latin typeface="Segoe UI"/>
                <a:ea typeface="Segoe UI"/>
                <a:cs typeface="Segoe UI"/>
              </a:defRPr>
            </a:defPPr>
          </a:lstStyle>
          <a:p xmlns:a="http://schemas.openxmlformats.org/drawingml/2006/main">
            <a:pPr>
              <a:defRPr sz="2025" b="1">
                <a:solidFill>
                  <a:srgbClr val="152B3C"/>
                </a:solidFill>
                <a:latin typeface="Segoe UI"/>
                <a:ea typeface="Segoe UI"/>
                <a:cs typeface="Segoe UI"/>
              </a:defRPr>
            </a:pPr>
            <a:r>
              <a:rPr sz="2025" b="1">
                <a:solidFill>
                  <a:srgbClr val="152B3C"/>
                </a:solidFill>
                <a:latin typeface="Segoe UI"/>
                <a:ea typeface="Segoe UI"/>
                <a:cs typeface="Segoe UI"/>
              </a:rPr>
              <a:t>Windows zamanlayıcı</a:t>
            </a:r>
          </a:p>
        </p:txBody>
      </p:sp>
      <p:sp>
        <p:nvSpPr>
          <p:cNvPr id="9" name="">
            <a:extLst xmlns:a="http://schemas.openxmlformats.org/drawingml/2006/main">
              <a:ext uri="{FF2B5EF4-FFF2-40B4-BE49-F238E27FC236}">
                <a16:creationId xmlns:a16="http://schemas.microsoft.com/office/drawing/2014/main" id="{0D7AD4DF-C834-4371-853B-FB257877C98A}"/>
              </a:ext>
            </a:extLst>
          </p:cNvPr>
          <p:cNvSpPr>
            <a:spLocks xmlns:a="http://schemas.openxmlformats.org/drawingml/2006/main" noGrp="1"/>
          </p:cNvSpPr>
          <p:nvPr/>
        </p:nvSpPr>
        <p:spPr>
          <a:xfrm xmlns:a="http://schemas.openxmlformats.org/drawingml/2006/main">
            <a:off x="4648200" y="2924175"/>
            <a:ext cx="2800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52B3C"/>
                </a:solidFill>
                <a:latin typeface="Segoe UI"/>
                <a:ea typeface="Segoe UI"/>
                <a:cs typeface="Segoe UI"/>
              </a:defRPr>
            </a:defPPr>
          </a:lstStyle>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Seçilen saatte uygulamayı</a:t>
            </a:r>
          </a:p>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ve ilgili görevi açar.</a:t>
            </a:r>
          </a:p>
        </p:txBody>
      </p:sp>
      <p:sp>
        <p:nvSpPr>
          <p:cNvPr id="10" name="">
            <a:extLst xmlns:a="http://schemas.openxmlformats.org/drawingml/2006/main">
              <a:ext uri="{FF2B5EF4-FFF2-40B4-BE49-F238E27FC236}">
                <a16:creationId xmlns:a16="http://schemas.microsoft.com/office/drawing/2014/main" id="{1E18C433-54CD-44BA-961D-91ECFF5440A2}"/>
              </a:ext>
            </a:extLst>
          </p:cNvPr>
          <p:cNvSpPr>
            <a:spLocks xmlns:a="http://schemas.openxmlformats.org/drawingml/2006/main" noGrp="1"/>
          </p:cNvSpPr>
          <p:nvPr/>
        </p:nvSpPr>
        <p:spPr>
          <a:xfrm xmlns:a="http://schemas.openxmlformats.org/drawingml/2006/main">
            <a:off x="7772400" y="2838450"/>
            <a:ext cx="428625" cy="238125"/>
          </a:xfrm>
          <a:prstGeom xmlns:a="http://schemas.openxmlformats.org/drawingml/2006/main" prst="rightArrow">
            <a:avLst/>
          </a:prstGeom>
          <a:solidFill xmlns:a="http://schemas.openxmlformats.org/drawingml/2006/main">
            <a:srgbClr val="2B9C8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7CBD5A-E483-4C55-9FA7-F1AA9C35C825}"/>
              </a:ext>
            </a:extLst>
          </p:cNvPr>
          <p:cNvSpPr>
            <a:spLocks xmlns:a="http://schemas.openxmlformats.org/drawingml/2006/main" noGrp="1"/>
          </p:cNvSpPr>
          <p:nvPr/>
        </p:nvSpPr>
        <p:spPr>
          <a:xfrm xmlns:a="http://schemas.openxmlformats.org/drawingml/2006/main">
            <a:off x="8343900" y="2238375"/>
            <a:ext cx="3143250" cy="1428750"/>
          </a:xfrm>
          <a:prstGeom xmlns:a="http://schemas.openxmlformats.org/drawingml/2006/main" prst="rect">
            <a:avLst/>
          </a:prstGeom>
          <a:solidFill xmlns:a="http://schemas.openxmlformats.org/drawingml/2006/main">
            <a:srgbClr val="DDECE5"/>
          </a:solidFill>
          <a:ln xmlns:a="http://schemas.openxmlformats.org/drawingml/2006/main" w="9525">
            <a:solidFill>
              <a:srgbClr val="7352C7"/>
            </a:solidFill>
          </a:ln>
        </p:spPr>
      </p:sp>
      <p:sp>
        <p:nvSpPr>
          <p:cNvPr id="12" name="">
            <a:extLst xmlns:a="http://schemas.openxmlformats.org/drawingml/2006/main">
              <a:ext uri="{FF2B5EF4-FFF2-40B4-BE49-F238E27FC236}">
                <a16:creationId xmlns:a16="http://schemas.microsoft.com/office/drawing/2014/main" id="{3078DEE0-44EB-4BA0-BC75-2FCAF9E2169E}"/>
              </a:ext>
            </a:extLst>
          </p:cNvPr>
          <p:cNvSpPr>
            <a:spLocks xmlns:a="http://schemas.openxmlformats.org/drawingml/2006/main" noGrp="1"/>
          </p:cNvSpPr>
          <p:nvPr/>
        </p:nvSpPr>
        <p:spPr>
          <a:xfrm xmlns:a="http://schemas.openxmlformats.org/drawingml/2006/main">
            <a:off x="8515350" y="2381250"/>
            <a:ext cx="2800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52B3C"/>
                </a:solidFill>
                <a:latin typeface="Segoe UI"/>
                <a:ea typeface="Segoe UI"/>
                <a:cs typeface="Segoe UI"/>
              </a:defRPr>
            </a:defPPr>
          </a:lstStyle>
          <a:p xmlns:a="http://schemas.openxmlformats.org/drawingml/2006/main">
            <a:pPr>
              <a:defRPr sz="2025" b="1">
                <a:solidFill>
                  <a:srgbClr val="152B3C"/>
                </a:solidFill>
                <a:latin typeface="Segoe UI"/>
                <a:ea typeface="Segoe UI"/>
                <a:cs typeface="Segoe UI"/>
              </a:defRPr>
            </a:pPr>
            <a:r>
              <a:rPr sz="2025" b="1">
                <a:solidFill>
                  <a:srgbClr val="152B3C"/>
                </a:solidFill>
                <a:latin typeface="Segoe UI"/>
                <a:ea typeface="Segoe UI"/>
                <a:cs typeface="Segoe UI"/>
              </a:rPr>
              <a:t>Görev sahiplenilir</a:t>
            </a:r>
          </a:p>
        </p:txBody>
      </p:sp>
      <p:sp>
        <p:nvSpPr>
          <p:cNvPr id="13" name="">
            <a:extLst xmlns:a="http://schemas.openxmlformats.org/drawingml/2006/main">
              <a:ext uri="{FF2B5EF4-FFF2-40B4-BE49-F238E27FC236}">
                <a16:creationId xmlns:a16="http://schemas.microsoft.com/office/drawing/2014/main" id="{D853F06F-2A82-4FF0-9FCF-74AEA783303F}"/>
              </a:ext>
            </a:extLst>
          </p:cNvPr>
          <p:cNvSpPr>
            <a:spLocks xmlns:a="http://schemas.openxmlformats.org/drawingml/2006/main" noGrp="1"/>
          </p:cNvSpPr>
          <p:nvPr/>
        </p:nvSpPr>
        <p:spPr>
          <a:xfrm xmlns:a="http://schemas.openxmlformats.org/drawingml/2006/main">
            <a:off x="8515350" y="2924175"/>
            <a:ext cx="2800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52B3C"/>
                </a:solidFill>
                <a:latin typeface="Segoe UI"/>
                <a:ea typeface="Segoe UI"/>
                <a:cs typeface="Segoe UI"/>
              </a:defRPr>
            </a:defPPr>
          </a:lstStyle>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Görev bir kez başlatılır;</a:t>
            </a:r>
          </a:p>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tekrar açılması önlenir.</a:t>
            </a:r>
          </a:p>
        </p:txBody>
      </p:sp>
      <p:sp>
        <p:nvSpPr>
          <p:cNvPr id="14" name="">
            <a:extLst xmlns:a="http://schemas.openxmlformats.org/drawingml/2006/main">
              <a:ext uri="{FF2B5EF4-FFF2-40B4-BE49-F238E27FC236}">
                <a16:creationId xmlns:a16="http://schemas.microsoft.com/office/drawing/2014/main" id="{4639159F-2C44-42FB-AFFE-31A70CE18A93}"/>
              </a:ext>
            </a:extLst>
          </p:cNvPr>
          <p:cNvSpPr>
            <a:spLocks xmlns:a="http://schemas.openxmlformats.org/drawingml/2006/main" noGrp="1"/>
          </p:cNvSpPr>
          <p:nvPr/>
        </p:nvSpPr>
        <p:spPr>
          <a:xfrm xmlns:a="http://schemas.openxmlformats.org/drawingml/2006/main">
            <a:off x="609600" y="433387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B9C80"/>
                </a:solidFill>
                <a:latin typeface="Segoe UI"/>
                <a:ea typeface="Segoe UI"/>
                <a:cs typeface="Segoe UI"/>
              </a:defRPr>
            </a:defPPr>
          </a:lstStyle>
          <a:p xmlns:a="http://schemas.openxmlformats.org/drawingml/2006/main">
            <a:pPr>
              <a:defRPr sz="2325" b="1">
                <a:solidFill>
                  <a:srgbClr val="2B9C80"/>
                </a:solidFill>
                <a:latin typeface="Segoe UI"/>
                <a:ea typeface="Segoe UI"/>
                <a:cs typeface="Segoe UI"/>
              </a:defRPr>
            </a:pPr>
            <a:r>
              <a:rPr sz="2325" b="1">
                <a:solidFill>
                  <a:srgbClr val="2B9C80"/>
                </a:solidFill>
                <a:latin typeface="Segoe UI"/>
                <a:ea typeface="Segoe UI"/>
                <a:cs typeface="Segoe UI"/>
              </a:rPr>
              <a:t>Serbest çalışma</a:t>
            </a:r>
          </a:p>
        </p:txBody>
      </p:sp>
      <p:sp>
        <p:nvSpPr>
          <p:cNvPr id="15" name="">
            <a:extLst xmlns:a="http://schemas.openxmlformats.org/drawingml/2006/main">
              <a:ext uri="{FF2B5EF4-FFF2-40B4-BE49-F238E27FC236}">
                <a16:creationId xmlns:a16="http://schemas.microsoft.com/office/drawing/2014/main" id="{6668DE67-BA8A-4F74-8FA8-BD0CBDB34DEE}"/>
              </a:ext>
            </a:extLst>
          </p:cNvPr>
          <p:cNvSpPr>
            <a:spLocks xmlns:a="http://schemas.openxmlformats.org/drawingml/2006/main" noGrp="1"/>
          </p:cNvSpPr>
          <p:nvPr/>
        </p:nvSpPr>
        <p:spPr>
          <a:xfrm xmlns:a="http://schemas.openxmlformats.org/drawingml/2006/main">
            <a:off x="609600" y="4914900"/>
            <a:ext cx="4905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2B3C"/>
                </a:solidFill>
                <a:latin typeface="Segoe UI"/>
                <a:ea typeface="Segoe UI"/>
                <a:cs typeface="Segoe UI"/>
              </a:defRPr>
            </a:defPPr>
          </a:lstStyle>
          <a:p xmlns:a="http://schemas.openxmlformats.org/drawingml/2006/main">
            <a:pPr>
              <a:defRPr sz="2100" b="0">
                <a:solidFill>
                  <a:srgbClr val="152B3C"/>
                </a:solidFill>
                <a:latin typeface="Segoe UI"/>
                <a:ea typeface="Segoe UI"/>
                <a:cs typeface="Segoe UI"/>
              </a:defRPr>
            </a:pPr>
            <a:r>
              <a:rPr sz="2100" b="0">
                <a:solidFill>
                  <a:srgbClr val="152B3C"/>
                </a:solidFill>
                <a:latin typeface="Segoe UI"/>
                <a:ea typeface="Segoe UI"/>
                <a:cs typeface="Segoe UI"/>
              </a:rPr>
              <a:t>Öğrenci istediğinde çıkabilir.</a:t>
            </a:r>
          </a:p>
        </p:txBody>
      </p:sp>
      <p:sp>
        <p:nvSpPr>
          <p:cNvPr id="16" name="">
            <a:extLst xmlns:a="http://schemas.openxmlformats.org/drawingml/2006/main">
              <a:ext uri="{FF2B5EF4-FFF2-40B4-BE49-F238E27FC236}">
                <a16:creationId xmlns:a16="http://schemas.microsoft.com/office/drawing/2014/main" id="{7A83740B-D7DB-460A-8928-2219CFF07F70}"/>
              </a:ext>
            </a:extLst>
          </p:cNvPr>
          <p:cNvSpPr>
            <a:spLocks xmlns:a="http://schemas.openxmlformats.org/drawingml/2006/main" noGrp="1"/>
          </p:cNvSpPr>
          <p:nvPr/>
        </p:nvSpPr>
        <p:spPr>
          <a:xfrm xmlns:a="http://schemas.openxmlformats.org/drawingml/2006/main">
            <a:off x="6381750" y="433387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7352C7"/>
                </a:solidFill>
                <a:latin typeface="Segoe UI"/>
                <a:ea typeface="Segoe UI"/>
                <a:cs typeface="Segoe UI"/>
              </a:defRPr>
            </a:defPPr>
          </a:lstStyle>
          <a:p xmlns:a="http://schemas.openxmlformats.org/drawingml/2006/main">
            <a:pPr>
              <a:defRPr sz="2325" b="1">
                <a:solidFill>
                  <a:srgbClr val="7352C7"/>
                </a:solidFill>
                <a:latin typeface="Segoe UI"/>
                <a:ea typeface="Segoe UI"/>
                <a:cs typeface="Segoe UI"/>
              </a:defRPr>
            </a:pPr>
            <a:r>
              <a:rPr sz="2325" b="1">
                <a:solidFill>
                  <a:srgbClr val="7352C7"/>
                </a:solidFill>
                <a:latin typeface="Segoe UI"/>
                <a:ea typeface="Segoe UI"/>
                <a:cs typeface="Segoe UI"/>
              </a:rPr>
              <a:t>Planlı çalışma</a:t>
            </a:r>
          </a:p>
        </p:txBody>
      </p:sp>
      <p:sp>
        <p:nvSpPr>
          <p:cNvPr id="17" name="">
            <a:extLst xmlns:a="http://schemas.openxmlformats.org/drawingml/2006/main">
              <a:ext uri="{FF2B5EF4-FFF2-40B4-BE49-F238E27FC236}">
                <a16:creationId xmlns:a16="http://schemas.microsoft.com/office/drawing/2014/main" id="{EC85FF61-196C-4FCB-8586-561671343883}"/>
              </a:ext>
            </a:extLst>
          </p:cNvPr>
          <p:cNvSpPr>
            <a:spLocks xmlns:a="http://schemas.openxmlformats.org/drawingml/2006/main" noGrp="1"/>
          </p:cNvSpPr>
          <p:nvPr/>
        </p:nvSpPr>
        <p:spPr>
          <a:xfrm xmlns:a="http://schemas.openxmlformats.org/drawingml/2006/main">
            <a:off x="6381750" y="4914900"/>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2B3C"/>
                </a:solidFill>
                <a:latin typeface="Segoe UI"/>
                <a:ea typeface="Segoe UI"/>
                <a:cs typeface="Segoe UI"/>
              </a:defRPr>
            </a:defPPr>
          </a:lstStyle>
          <a:p xmlns:a="http://schemas.openxmlformats.org/drawingml/2006/main">
            <a:pPr>
              <a:defRPr sz="2100" b="0">
                <a:solidFill>
                  <a:srgbClr val="152B3C"/>
                </a:solidFill>
                <a:latin typeface="Segoe UI"/>
                <a:ea typeface="Segoe UI"/>
                <a:cs typeface="Segoe UI"/>
              </a:defRPr>
            </a:pPr>
            <a:r>
              <a:rPr sz="2100" b="0">
                <a:solidFill>
                  <a:srgbClr val="152B3C"/>
                </a:solidFill>
                <a:latin typeface="Segoe UI"/>
                <a:ea typeface="Segoe UI"/>
                <a:cs typeface="Segoe UI"/>
              </a:rPr>
              <a:t>Öğrenci öğrenme hedefine ulaşınca</a:t>
            </a:r>
          </a:p>
          <a:p xmlns:a="http://schemas.openxmlformats.org/drawingml/2006/main">
            <a:pPr>
              <a:defRPr sz="2100" b="0">
                <a:solidFill>
                  <a:srgbClr val="152B3C"/>
                </a:solidFill>
                <a:latin typeface="Segoe UI"/>
                <a:ea typeface="Segoe UI"/>
                <a:cs typeface="Segoe UI"/>
              </a:defRPr>
            </a:pPr>
            <a:r>
              <a:rPr sz="2100" b="0">
                <a:solidFill>
                  <a:srgbClr val="152B3C"/>
                </a:solidFill>
                <a:latin typeface="Segoe UI"/>
                <a:ea typeface="Segoe UI"/>
                <a:cs typeface="Segoe UI"/>
              </a:rPr>
              <a:t>veya veli onay verince çıkabilir.</a:t>
            </a:r>
          </a:p>
        </p:txBody>
      </p:sp>
      <p:sp>
        <p:nvSpPr>
          <p:cNvPr id="18" name="">
            <a:extLst xmlns:a="http://schemas.openxmlformats.org/drawingml/2006/main">
              <a:ext uri="{FF2B5EF4-FFF2-40B4-BE49-F238E27FC236}">
                <a16:creationId xmlns:a16="http://schemas.microsoft.com/office/drawing/2014/main" id="{3573DD33-AF1D-4CD9-A537-5D246F380131}"/>
              </a:ext>
            </a:extLst>
          </p:cNvPr>
          <p:cNvSpPr>
            <a:spLocks xmlns:a="http://schemas.openxmlformats.org/drawingml/2006/main" noGrp="1"/>
          </p:cNvSpPr>
          <p:nvPr/>
        </p:nvSpPr>
        <p:spPr>
          <a:xfrm xmlns:a="http://schemas.openxmlformats.org/drawingml/2006/main">
            <a:off x="609600" y="61912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6747E"/>
                </a:solidFill>
                <a:latin typeface="Segoe UI"/>
                <a:ea typeface="Segoe UI"/>
                <a:cs typeface="Segoe UI"/>
              </a:defRPr>
            </a:defPPr>
          </a:lstStyle>
          <a:p xmlns:a="http://schemas.openxmlformats.org/drawingml/2006/main">
            <a:pPr>
              <a:defRPr sz="1500" b="0">
                <a:solidFill>
                  <a:srgbClr val="66747E"/>
                </a:solidFill>
                <a:latin typeface="Segoe UI"/>
                <a:ea typeface="Segoe UI"/>
                <a:cs typeface="Segoe UI"/>
              </a:defRPr>
            </a:pPr>
            <a:r>
              <a:rPr sz="1500" b="0">
                <a:solidFill>
                  <a:srgbClr val="66747E"/>
                </a:solidFill>
                <a:latin typeface="Segoe UI"/>
                <a:ea typeface="Segoe UI"/>
                <a:cs typeface="Segoe UI"/>
              </a:rPr>
              <a:t>Bilgisayar ve Windows oturumu açık olmalı. Klavye kontrolü OS güvenlik sınırı değildir.</a:t>
            </a:r>
          </a:p>
        </p:txBody>
      </p:sp>
    </p:spTree>
    <p:extLst>
      <p:ext uri="{BB962C8B-B14F-4D97-AF65-F5344CB8AC3E}">
        <p14:creationId xmlns:p14="http://schemas.microsoft.com/office/powerpoint/2010/main" val="2050775281"/>
      </p:ext>
    </p:extLst>
  </p:cSld>
</p:sld>
</file>

<file path=ppt/slides/slide10.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9C4CA3D-C775-4DE1-BF96-23D33DA247E5}"/>
              </a:ext>
            </a:extLst>
          </p:cNvPr>
          <p:cNvSpPr>
            <a:spLocks xmlns:a="http://schemas.openxmlformats.org/drawingml/2006/main" noGrp="1"/>
          </p:cNvSpPr>
          <p:nvPr/>
        </p:nvSpPr>
        <p:spPr>
          <a:xfrm xmlns:a="http://schemas.openxmlformats.org/drawingml/2006/main">
            <a:off x="609600" y="285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B9C80"/>
                </a:solidFill>
                <a:latin typeface="Segoe UI"/>
                <a:ea typeface="Segoe UI"/>
                <a:cs typeface="Segoe UI"/>
              </a:defRPr>
            </a:defPPr>
          </a:lstStyle>
          <a:p xmlns:a="http://schemas.openxmlformats.org/drawingml/2006/main">
            <a:pPr>
              <a:defRPr sz="1200" b="1">
                <a:solidFill>
                  <a:srgbClr val="2B9C80"/>
                </a:solidFill>
                <a:latin typeface="Segoe UI"/>
                <a:ea typeface="Segoe UI"/>
                <a:cs typeface="Segoe UI"/>
              </a:defRPr>
            </a:pPr>
            <a:r>
              <a:rPr sz="1200" b="1">
                <a:solidFill>
                  <a:srgbClr val="2B9C80"/>
                </a:solidFill>
                <a:latin typeface="Segoe UI"/>
                <a:ea typeface="Segoe UI"/>
                <a:cs typeface="Segoe UI"/>
              </a:rPr>
              <a:t>ÖĞRENME MOLASI</a:t>
            </a:r>
          </a:p>
        </p:txBody>
      </p:sp>
      <p:sp>
        <p:nvSpPr>
          <p:cNvPr id="2" name="">
            <a:extLst xmlns:a="http://schemas.openxmlformats.org/drawingml/2006/main">
              <a:ext uri="{FF2B5EF4-FFF2-40B4-BE49-F238E27FC236}">
                <a16:creationId xmlns:a16="http://schemas.microsoft.com/office/drawing/2014/main" id="{9C4B5884-4BB1-4462-96D8-913B558B3EE0}"/>
              </a:ext>
            </a:extLst>
          </p:cNvPr>
          <p:cNvSpPr>
            <a:spLocks xmlns:a="http://schemas.openxmlformats.org/drawingml/2006/main" noGrp="1"/>
          </p:cNvSpPr>
          <p:nvPr/>
        </p:nvSpPr>
        <p:spPr>
          <a:xfrm xmlns:a="http://schemas.openxmlformats.org/drawingml/2006/main">
            <a:off x="609600" y="857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2B3C"/>
                </a:solidFill>
                <a:latin typeface="Segoe UI"/>
                <a:ea typeface="Segoe UI"/>
                <a:cs typeface="Segoe UI"/>
              </a:defRPr>
            </a:defPPr>
          </a:lstStyle>
          <a:p xmlns:a="http://schemas.openxmlformats.org/drawingml/2006/main">
            <a:pPr>
              <a:defRPr sz="3300" b="1">
                <a:solidFill>
                  <a:srgbClr val="152B3C"/>
                </a:solidFill>
                <a:latin typeface="Segoe UI"/>
                <a:ea typeface="Segoe UI"/>
                <a:cs typeface="Segoe UI"/>
              </a:defRPr>
            </a:pPr>
            <a:r>
              <a:rPr sz="3300" b="1">
                <a:solidFill>
                  <a:srgbClr val="152B3C"/>
                </a:solidFill>
                <a:latin typeface="Segoe UI"/>
                <a:ea typeface="Segoe UI"/>
                <a:cs typeface="Segoe UI"/>
              </a:rPr>
              <a:t>Belge, ses ve el yazısı işleme</a:t>
            </a:r>
          </a:p>
        </p:txBody>
      </p:sp>
      <p:sp>
        <p:nvSpPr>
          <p:cNvPr id="3" name="">
            <a:extLst xmlns:a="http://schemas.openxmlformats.org/drawingml/2006/main">
              <a:ext uri="{FF2B5EF4-FFF2-40B4-BE49-F238E27FC236}">
                <a16:creationId xmlns:a16="http://schemas.microsoft.com/office/drawing/2014/main" id="{65DD576C-7039-45C9-B4CB-A69242847BCD}"/>
              </a:ext>
            </a:extLst>
          </p:cNvPr>
          <p:cNvSpPr>
            <a:spLocks xmlns:a="http://schemas.openxmlformats.org/drawingml/2006/main" noGrp="1"/>
          </p:cNvSpPr>
          <p:nvPr/>
        </p:nvSpPr>
        <p:spPr>
          <a:xfrm xmlns:a="http://schemas.openxmlformats.org/drawingml/2006/main">
            <a:off x="609600" y="223837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7352C7"/>
                </a:solidFill>
                <a:latin typeface="Segoe UI"/>
                <a:ea typeface="Segoe UI"/>
                <a:cs typeface="Segoe UI"/>
              </a:defRPr>
            </a:defPPr>
          </a:lstStyle>
          <a:p xmlns:a="http://schemas.openxmlformats.org/drawingml/2006/main">
            <a:pPr>
              <a:defRPr sz="2325" b="1">
                <a:solidFill>
                  <a:srgbClr val="7352C7"/>
                </a:solidFill>
                <a:latin typeface="Segoe UI"/>
                <a:ea typeface="Segoe UI"/>
                <a:cs typeface="Segoe UI"/>
              </a:defRPr>
            </a:pPr>
            <a:r>
              <a:rPr sz="2325" b="1">
                <a:solidFill>
                  <a:srgbClr val="7352C7"/>
                </a:solidFill>
                <a:latin typeface="Segoe UI"/>
                <a:ea typeface="Segoe UI"/>
                <a:cs typeface="Segoe UI"/>
              </a:rPr>
              <a:t>Belge işleme</a:t>
            </a:r>
          </a:p>
        </p:txBody>
      </p:sp>
      <p:sp>
        <p:nvSpPr>
          <p:cNvPr id="4" name="">
            <a:extLst xmlns:a="http://schemas.openxmlformats.org/drawingml/2006/main">
              <a:ext uri="{FF2B5EF4-FFF2-40B4-BE49-F238E27FC236}">
                <a16:creationId xmlns:a16="http://schemas.microsoft.com/office/drawing/2014/main" id="{D2C9BB50-608E-49D0-AF7C-4C59A3ED6E51}"/>
              </a:ext>
            </a:extLst>
          </p:cNvPr>
          <p:cNvSpPr>
            <a:spLocks xmlns:a="http://schemas.openxmlformats.org/drawingml/2006/main" noGrp="1"/>
          </p:cNvSpPr>
          <p:nvPr/>
        </p:nvSpPr>
        <p:spPr>
          <a:xfrm xmlns:a="http://schemas.openxmlformats.org/drawingml/2006/main">
            <a:off x="3619500" y="2238375"/>
            <a:ext cx="781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52B3C"/>
                </a:solidFill>
                <a:latin typeface="Segoe UI"/>
                <a:ea typeface="Segoe UI"/>
                <a:cs typeface="Segoe UI"/>
              </a:defRPr>
            </a:defPPr>
          </a:lstStyle>
          <a:p xmlns:a="http://schemas.openxmlformats.org/drawingml/2006/main">
            <a:pPr>
              <a:defRPr sz="1800" b="0">
                <a:solidFill>
                  <a:srgbClr val="152B3C"/>
                </a:solidFill>
                <a:latin typeface="Segoe UI"/>
                <a:ea typeface="Segoe UI"/>
                <a:cs typeface="Segoe UI"/>
              </a:defRPr>
            </a:pPr>
            <a:r>
              <a:rPr sz="1800" b="0">
                <a:solidFill>
                  <a:srgbClr val="152B3C"/>
                </a:solidFill>
                <a:latin typeface="Segoe UI"/>
                <a:ea typeface="Segoe UI"/>
                <a:cs typeface="Segoe UI"/>
              </a:rPr>
              <a:t>PDF, Word veya metin belgesinden içerik okunur.</a:t>
            </a:r>
          </a:p>
          <a:p xmlns:a="http://schemas.openxmlformats.org/drawingml/2006/main">
            <a:pPr>
              <a:defRPr sz="1800" b="0">
                <a:solidFill>
                  <a:srgbClr val="152B3C"/>
                </a:solidFill>
                <a:latin typeface="Segoe UI"/>
                <a:ea typeface="Segoe UI"/>
                <a:cs typeface="Segoe UI"/>
              </a:defRPr>
            </a:pPr>
            <a:r>
              <a:rPr sz="1800" b="0">
                <a:solidFill>
                  <a:srgbClr val="152B3C"/>
                </a:solidFill>
                <a:latin typeface="Segoe UI"/>
                <a:ea typeface="Segoe UI"/>
                <a:cs typeface="Segoe UI"/>
              </a:rPr>
              <a:t>Gemini’nin hazırladığı sorular yetişkin onayından sonra kullanılır.</a:t>
            </a:r>
          </a:p>
        </p:txBody>
      </p:sp>
      <p:sp>
        <p:nvSpPr>
          <p:cNvPr id="5" name="">
            <a:extLst xmlns:a="http://schemas.openxmlformats.org/drawingml/2006/main">
              <a:ext uri="{FF2B5EF4-FFF2-40B4-BE49-F238E27FC236}">
                <a16:creationId xmlns:a16="http://schemas.microsoft.com/office/drawing/2014/main" id="{7024A4F4-219C-4ABD-8A34-930FE21C6C22}"/>
              </a:ext>
            </a:extLst>
          </p:cNvPr>
          <p:cNvSpPr>
            <a:spLocks xmlns:a="http://schemas.openxmlformats.org/drawingml/2006/main" noGrp="1"/>
          </p:cNvSpPr>
          <p:nvPr/>
        </p:nvSpPr>
        <p:spPr>
          <a:xfrm xmlns:a="http://schemas.openxmlformats.org/drawingml/2006/main">
            <a:off x="609600" y="3524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7352C7"/>
                </a:solidFill>
                <a:latin typeface="Segoe UI"/>
                <a:ea typeface="Segoe UI"/>
                <a:cs typeface="Segoe UI"/>
              </a:defRPr>
            </a:defPPr>
          </a:lstStyle>
          <a:p xmlns:a="http://schemas.openxmlformats.org/drawingml/2006/main">
            <a:pPr>
              <a:defRPr sz="2325" b="1">
                <a:solidFill>
                  <a:srgbClr val="7352C7"/>
                </a:solidFill>
                <a:latin typeface="Segoe UI"/>
                <a:ea typeface="Segoe UI"/>
                <a:cs typeface="Segoe UI"/>
              </a:defRPr>
            </a:pPr>
            <a:r>
              <a:rPr sz="2325" b="1">
                <a:solidFill>
                  <a:srgbClr val="7352C7"/>
                </a:solidFill>
                <a:latin typeface="Segoe UI"/>
                <a:ea typeface="Segoe UI"/>
                <a:cs typeface="Segoe UI"/>
              </a:rPr>
              <a:t>Seslendirme</a:t>
            </a:r>
          </a:p>
        </p:txBody>
      </p:sp>
      <p:sp>
        <p:nvSpPr>
          <p:cNvPr id="6" name="">
            <a:extLst xmlns:a="http://schemas.openxmlformats.org/drawingml/2006/main">
              <a:ext uri="{FF2B5EF4-FFF2-40B4-BE49-F238E27FC236}">
                <a16:creationId xmlns:a16="http://schemas.microsoft.com/office/drawing/2014/main" id="{9A9120F3-54FF-452E-BB45-A0454312609F}"/>
              </a:ext>
            </a:extLst>
          </p:cNvPr>
          <p:cNvSpPr>
            <a:spLocks xmlns:a="http://schemas.openxmlformats.org/drawingml/2006/main" noGrp="1"/>
          </p:cNvSpPr>
          <p:nvPr/>
        </p:nvSpPr>
        <p:spPr>
          <a:xfrm xmlns:a="http://schemas.openxmlformats.org/drawingml/2006/main">
            <a:off x="3619500" y="3524250"/>
            <a:ext cx="781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52B3C"/>
                </a:solidFill>
                <a:latin typeface="Segoe UI"/>
                <a:ea typeface="Segoe UI"/>
                <a:cs typeface="Segoe UI"/>
              </a:defRPr>
            </a:defPPr>
          </a:lstStyle>
          <a:p xmlns:a="http://schemas.openxmlformats.org/drawingml/2006/main">
            <a:pPr>
              <a:defRPr sz="1800" b="0">
                <a:solidFill>
                  <a:srgbClr val="152B3C"/>
                </a:solidFill>
                <a:latin typeface="Segoe UI"/>
                <a:ea typeface="Segoe UI"/>
                <a:cs typeface="Segoe UI"/>
              </a:defRPr>
            </a:pPr>
            <a:r>
              <a:rPr sz="1800" b="0">
                <a:solidFill>
                  <a:srgbClr val="152B3C"/>
                </a:solidFill>
                <a:latin typeface="Segoe UI"/>
                <a:ea typeface="Segoe UI"/>
                <a:cs typeface="Segoe UI"/>
              </a:rPr>
              <a:t>Piper, ElevenLabs veya Gemini metni seslendirir.</a:t>
            </a:r>
          </a:p>
          <a:p xmlns:a="http://schemas.openxmlformats.org/drawingml/2006/main">
            <a:pPr>
              <a:defRPr sz="1800" b="0">
                <a:solidFill>
                  <a:srgbClr val="152B3C"/>
                </a:solidFill>
                <a:latin typeface="Segoe UI"/>
                <a:ea typeface="Segoe UI"/>
                <a:cs typeface="Segoe UI"/>
              </a:defRPr>
            </a:pPr>
            <a:r>
              <a:rPr sz="1800" b="0">
                <a:solidFill>
                  <a:srgbClr val="152B3C"/>
                </a:solidFill>
                <a:latin typeface="Segoe UI"/>
                <a:ea typeface="Segoe UI"/>
                <a:cs typeface="Segoe UI"/>
              </a:rPr>
              <a:t>Anlatım bitince sonraki adıma geçilir; eski ses bildirimleri elenir.</a:t>
            </a:r>
          </a:p>
        </p:txBody>
      </p:sp>
      <p:sp>
        <p:nvSpPr>
          <p:cNvPr id="7" name="">
            <a:extLst xmlns:a="http://schemas.openxmlformats.org/drawingml/2006/main">
              <a:ext uri="{FF2B5EF4-FFF2-40B4-BE49-F238E27FC236}">
                <a16:creationId xmlns:a16="http://schemas.microsoft.com/office/drawing/2014/main" id="{33A6E601-983D-42B5-9EB5-83CBC9D186D2}"/>
              </a:ext>
            </a:extLst>
          </p:cNvPr>
          <p:cNvSpPr>
            <a:spLocks xmlns:a="http://schemas.openxmlformats.org/drawingml/2006/main" noGrp="1"/>
          </p:cNvSpPr>
          <p:nvPr/>
        </p:nvSpPr>
        <p:spPr>
          <a:xfrm xmlns:a="http://schemas.openxmlformats.org/drawingml/2006/main">
            <a:off x="609600" y="48101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7352C7"/>
                </a:solidFill>
                <a:latin typeface="Segoe UI"/>
                <a:ea typeface="Segoe UI"/>
                <a:cs typeface="Segoe UI"/>
              </a:defRPr>
            </a:defPPr>
          </a:lstStyle>
          <a:p xmlns:a="http://schemas.openxmlformats.org/drawingml/2006/main">
            <a:pPr>
              <a:defRPr sz="2325" b="1">
                <a:solidFill>
                  <a:srgbClr val="7352C7"/>
                </a:solidFill>
                <a:latin typeface="Segoe UI"/>
                <a:ea typeface="Segoe UI"/>
                <a:cs typeface="Segoe UI"/>
              </a:defRPr>
            </a:pPr>
            <a:r>
              <a:rPr sz="2325" b="1">
                <a:solidFill>
                  <a:srgbClr val="7352C7"/>
                </a:solidFill>
                <a:latin typeface="Segoe UI"/>
                <a:ea typeface="Segoe UI"/>
                <a:cs typeface="Segoe UI"/>
              </a:rPr>
              <a:t>El yazısı</a:t>
            </a:r>
          </a:p>
        </p:txBody>
      </p:sp>
      <p:sp>
        <p:nvSpPr>
          <p:cNvPr id="8" name="">
            <a:extLst xmlns:a="http://schemas.openxmlformats.org/drawingml/2006/main">
              <a:ext uri="{FF2B5EF4-FFF2-40B4-BE49-F238E27FC236}">
                <a16:creationId xmlns:a16="http://schemas.microsoft.com/office/drawing/2014/main" id="{BBFD0AF5-82FA-4A61-A629-BCE474CB0FF1}"/>
              </a:ext>
            </a:extLst>
          </p:cNvPr>
          <p:cNvSpPr>
            <a:spLocks xmlns:a="http://schemas.openxmlformats.org/drawingml/2006/main" noGrp="1"/>
          </p:cNvSpPr>
          <p:nvPr/>
        </p:nvSpPr>
        <p:spPr>
          <a:xfrm xmlns:a="http://schemas.openxmlformats.org/drawingml/2006/main">
            <a:off x="3619500" y="4810125"/>
            <a:ext cx="781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52B3C"/>
                </a:solidFill>
                <a:latin typeface="Segoe UI"/>
                <a:ea typeface="Segoe UI"/>
                <a:cs typeface="Segoe UI"/>
              </a:defRPr>
            </a:defPPr>
          </a:lstStyle>
          <a:p xmlns:a="http://schemas.openxmlformats.org/drawingml/2006/main">
            <a:pPr>
              <a:defRPr sz="1800" b="0">
                <a:solidFill>
                  <a:srgbClr val="152B3C"/>
                </a:solidFill>
                <a:latin typeface="Segoe UI"/>
                <a:ea typeface="Segoe UI"/>
                <a:cs typeface="Segoe UI"/>
              </a:defRPr>
            </a:pPr>
            <a:r>
              <a:rPr sz="1800" b="0">
                <a:solidFill>
                  <a:srgbClr val="152B3C"/>
                </a:solidFill>
                <a:latin typeface="Segoe UI"/>
                <a:ea typeface="Segoe UI"/>
                <a:cs typeface="Segoe UI"/>
              </a:rPr>
              <a:t>Çocuk yazmaya 850 ms ara verince çizim tanımaya gönderilir.</a:t>
            </a:r>
          </a:p>
          <a:p xmlns:a="http://schemas.openxmlformats.org/drawingml/2006/main">
            <a:pPr>
              <a:defRPr sz="1800" b="0">
                <a:solidFill>
                  <a:srgbClr val="152B3C"/>
                </a:solidFill>
                <a:latin typeface="Segoe UI"/>
                <a:ea typeface="Segoe UI"/>
                <a:cs typeface="Segoe UI"/>
              </a:defRPr>
            </a:pPr>
            <a:r>
              <a:rPr sz="1800" b="0">
                <a:solidFill>
                  <a:srgbClr val="152B3C"/>
                </a:solidFill>
                <a:latin typeface="Segoe UI"/>
                <a:ea typeface="Segoe UI"/>
                <a:cs typeface="Segoe UI"/>
              </a:rPr>
              <a:t>Algılanan yazı ekrana gelir; çocuk yazmaya devam edebilir.</a:t>
            </a:r>
          </a:p>
        </p:txBody>
      </p:sp>
      <p:sp>
        <p:nvSpPr>
          <p:cNvPr id="9" name="">
            <a:extLst xmlns:a="http://schemas.openxmlformats.org/drawingml/2006/main">
              <a:ext uri="{FF2B5EF4-FFF2-40B4-BE49-F238E27FC236}">
                <a16:creationId xmlns:a16="http://schemas.microsoft.com/office/drawing/2014/main" id="{31D5D12B-3EB4-426E-A855-84F1769CF4A5}"/>
              </a:ext>
            </a:extLst>
          </p:cNvPr>
          <p:cNvSpPr>
            <a:spLocks xmlns:a="http://schemas.openxmlformats.org/drawingml/2006/main" noGrp="1"/>
          </p:cNvSpPr>
          <p:nvPr/>
        </p:nvSpPr>
        <p:spPr>
          <a:xfrm xmlns:a="http://schemas.openxmlformats.org/drawingml/2006/main">
            <a:off x="609600" y="6191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6747E"/>
                </a:solidFill>
                <a:latin typeface="Segoe UI"/>
                <a:ea typeface="Segoe UI"/>
                <a:cs typeface="Segoe UI"/>
              </a:defRPr>
            </a:defPPr>
          </a:lstStyle>
          <a:p xmlns:a="http://schemas.openxmlformats.org/drawingml/2006/main">
            <a:pPr>
              <a:defRPr sz="1500" b="0">
                <a:solidFill>
                  <a:srgbClr val="66747E"/>
                </a:solidFill>
                <a:latin typeface="Segoe UI"/>
                <a:ea typeface="Segoe UI"/>
                <a:cs typeface="Segoe UI"/>
              </a:defRPr>
            </a:pPr>
            <a:r>
              <a:rPr sz="1500" b="0">
                <a:solidFill>
                  <a:srgbClr val="66747E"/>
                </a:solidFill>
                <a:latin typeface="Segoe UI"/>
                <a:ea typeface="Segoe UI"/>
                <a:cs typeface="Segoe UI"/>
              </a:rPr>
              <a:t>Taranmış, metin katmanı olmayan PDF’ler ek OCR gerektirebilir.</a:t>
            </a:r>
          </a:p>
        </p:txBody>
      </p:sp>
    </p:spTree>
    <p:extLst>
      <p:ext uri="{BB962C8B-B14F-4D97-AF65-F5344CB8AC3E}">
        <p14:creationId xmlns:p14="http://schemas.microsoft.com/office/powerpoint/2010/main" val="155447480"/>
      </p:ext>
    </p:extLst>
  </p:cSld>
</p:sld>
</file>

<file path=ppt/slides/slide11.xml><?xml version="1.0" encoding="utf-8"?>
<p:sld xmlns:p="http://schemas.openxmlformats.org/presentationml/2006/main">
  <p:cSld>
    <p:bg>
      <p:bgPr>
        <a:solidFill xmlns:a="http://schemas.openxmlformats.org/drawingml/2006/main">
          <a:srgbClr val="152B3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D9BCE7-DD59-4DCD-B64D-6C07CA78F372}"/>
              </a:ext>
            </a:extLst>
          </p:cNvPr>
          <p:cNvSpPr>
            <a:spLocks xmlns:a="http://schemas.openxmlformats.org/drawingml/2006/main" noGrp="1"/>
          </p:cNvSpPr>
          <p:nvPr/>
        </p:nvSpPr>
        <p:spPr>
          <a:xfrm xmlns:a="http://schemas.openxmlformats.org/drawingml/2006/main">
            <a:off x="609600" y="285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BFDCCD"/>
                </a:solidFill>
                <a:latin typeface="Segoe UI"/>
                <a:ea typeface="Segoe UI"/>
                <a:cs typeface="Segoe UI"/>
              </a:defRPr>
            </a:defPPr>
          </a:lstStyle>
          <a:p xmlns:a="http://schemas.openxmlformats.org/drawingml/2006/main">
            <a:pPr>
              <a:defRPr sz="1200" b="1">
                <a:solidFill>
                  <a:srgbClr val="BFDCCD"/>
                </a:solidFill>
                <a:latin typeface="Segoe UI"/>
                <a:ea typeface="Segoe UI"/>
                <a:cs typeface="Segoe UI"/>
              </a:defRPr>
            </a:pPr>
            <a:r>
              <a:rPr sz="1200" b="1">
                <a:solidFill>
                  <a:srgbClr val="BFDCCD"/>
                </a:solidFill>
                <a:latin typeface="Segoe UI"/>
                <a:ea typeface="Segoe UI"/>
                <a:cs typeface="Segoe UI"/>
              </a:rPr>
              <a:t>ÖĞRENME MOLASI</a:t>
            </a:r>
          </a:p>
        </p:txBody>
      </p:sp>
      <p:sp>
        <p:nvSpPr>
          <p:cNvPr id="2" name="">
            <a:extLst xmlns:a="http://schemas.openxmlformats.org/drawingml/2006/main">
              <a:ext uri="{FF2B5EF4-FFF2-40B4-BE49-F238E27FC236}">
                <a16:creationId xmlns:a16="http://schemas.microsoft.com/office/drawing/2014/main" id="{72157C35-351C-4A50-AAF4-E71B68F056A7}"/>
              </a:ext>
            </a:extLst>
          </p:cNvPr>
          <p:cNvSpPr>
            <a:spLocks xmlns:a="http://schemas.openxmlformats.org/drawingml/2006/main" noGrp="1"/>
          </p:cNvSpPr>
          <p:nvPr/>
        </p:nvSpPr>
        <p:spPr>
          <a:xfrm xmlns:a="http://schemas.openxmlformats.org/drawingml/2006/main">
            <a:off x="609600" y="857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Segoe UI"/>
                <a:ea typeface="Segoe UI"/>
                <a:cs typeface="Segoe UI"/>
              </a:defRPr>
            </a:defPPr>
          </a:lstStyle>
          <a:p xmlns:a="http://schemas.openxmlformats.org/drawingml/2006/main">
            <a:pPr>
              <a:defRPr sz="3300" b="1">
                <a:solidFill>
                  <a:srgbClr val="FFFFFF"/>
                </a:solidFill>
                <a:latin typeface="Segoe UI"/>
                <a:ea typeface="Segoe UI"/>
                <a:cs typeface="Segoe UI"/>
              </a:defRPr>
            </a:pPr>
            <a:r>
              <a:rPr sz="3300" b="1">
                <a:solidFill>
                  <a:srgbClr val="FFFFFF"/>
                </a:solidFill>
                <a:latin typeface="Segoe UI"/>
                <a:ea typeface="Segoe UI"/>
                <a:cs typeface="Segoe UI"/>
              </a:rPr>
              <a:t>Güvenlik, tutarlılık ve testler</a:t>
            </a:r>
          </a:p>
        </p:txBody>
      </p:sp>
      <p:sp>
        <p:nvSpPr>
          <p:cNvPr id="3" name="">
            <a:extLst xmlns:a="http://schemas.openxmlformats.org/drawingml/2006/main">
              <a:ext uri="{FF2B5EF4-FFF2-40B4-BE49-F238E27FC236}">
                <a16:creationId xmlns:a16="http://schemas.microsoft.com/office/drawing/2014/main" id="{C3F39491-CDD8-43DD-84DE-B0A86E284C69}"/>
              </a:ext>
            </a:extLst>
          </p:cNvPr>
          <p:cNvSpPr>
            <a:spLocks xmlns:a="http://schemas.openxmlformats.org/drawingml/2006/main" noGrp="1"/>
          </p:cNvSpPr>
          <p:nvPr/>
        </p:nvSpPr>
        <p:spPr>
          <a:xfrm xmlns:a="http://schemas.openxmlformats.org/drawingml/2006/main">
            <a:off x="609600" y="21907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87C6AD"/>
                </a:solidFill>
                <a:latin typeface="Segoe UI"/>
                <a:ea typeface="Segoe UI"/>
                <a:cs typeface="Segoe UI"/>
              </a:defRPr>
            </a:defPPr>
          </a:lstStyle>
          <a:p xmlns:a="http://schemas.openxmlformats.org/drawingml/2006/main">
            <a:pPr>
              <a:defRPr sz="2325" b="1">
                <a:solidFill>
                  <a:srgbClr val="87C6AD"/>
                </a:solidFill>
                <a:latin typeface="Segoe UI"/>
                <a:ea typeface="Segoe UI"/>
                <a:cs typeface="Segoe UI"/>
              </a:defRPr>
            </a:pPr>
            <a:r>
              <a:rPr sz="2325" b="1">
                <a:solidFill>
                  <a:srgbClr val="87C6AD"/>
                </a:solidFill>
                <a:latin typeface="Segoe UI"/>
                <a:ea typeface="Segoe UI"/>
                <a:cs typeface="Segoe UI"/>
              </a:rPr>
              <a:t>Parola saklama</a:t>
            </a:r>
          </a:p>
        </p:txBody>
      </p:sp>
      <p:sp>
        <p:nvSpPr>
          <p:cNvPr id="4" name="">
            <a:extLst xmlns:a="http://schemas.openxmlformats.org/drawingml/2006/main">
              <a:ext uri="{FF2B5EF4-FFF2-40B4-BE49-F238E27FC236}">
                <a16:creationId xmlns:a16="http://schemas.microsoft.com/office/drawing/2014/main" id="{1237BD32-97BE-421C-8D5D-61909443FFC0}"/>
              </a:ext>
            </a:extLst>
          </p:cNvPr>
          <p:cNvSpPr>
            <a:spLocks xmlns:a="http://schemas.openxmlformats.org/drawingml/2006/main" noGrp="1"/>
          </p:cNvSpPr>
          <p:nvPr/>
        </p:nvSpPr>
        <p:spPr>
          <a:xfrm xmlns:a="http://schemas.openxmlformats.org/drawingml/2006/main">
            <a:off x="3619500" y="2190750"/>
            <a:ext cx="781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FFFFF"/>
                </a:solidFill>
                <a:latin typeface="Segoe UI"/>
                <a:ea typeface="Segoe UI"/>
                <a:cs typeface="Segoe UI"/>
              </a:defRPr>
            </a:defPPr>
          </a:lstStyle>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Parolalar düz metin yerine PBKDF2-HMAC-SHA256 ile saklanır.</a:t>
            </a:r>
          </a:p>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Her hesap için rastgele tuz ve 200.000 yineleme kullanılır.</a:t>
            </a:r>
          </a:p>
        </p:txBody>
      </p:sp>
      <p:sp>
        <p:nvSpPr>
          <p:cNvPr id="5" name="">
            <a:extLst xmlns:a="http://schemas.openxmlformats.org/drawingml/2006/main">
              <a:ext uri="{FF2B5EF4-FFF2-40B4-BE49-F238E27FC236}">
                <a16:creationId xmlns:a16="http://schemas.microsoft.com/office/drawing/2014/main" id="{68DF7F53-C9D6-4A79-A2EC-613C4295ED69}"/>
              </a:ext>
            </a:extLst>
          </p:cNvPr>
          <p:cNvSpPr>
            <a:spLocks xmlns:a="http://schemas.openxmlformats.org/drawingml/2006/main" noGrp="1"/>
          </p:cNvSpPr>
          <p:nvPr/>
        </p:nvSpPr>
        <p:spPr>
          <a:xfrm xmlns:a="http://schemas.openxmlformats.org/drawingml/2006/main">
            <a:off x="609600" y="3476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87C6AD"/>
                </a:solidFill>
                <a:latin typeface="Segoe UI"/>
                <a:ea typeface="Segoe UI"/>
                <a:cs typeface="Segoe UI"/>
              </a:defRPr>
            </a:defPPr>
          </a:lstStyle>
          <a:p xmlns:a="http://schemas.openxmlformats.org/drawingml/2006/main">
            <a:pPr>
              <a:defRPr sz="2325" b="1">
                <a:solidFill>
                  <a:srgbClr val="87C6AD"/>
                </a:solidFill>
                <a:latin typeface="Segoe UI"/>
                <a:ea typeface="Segoe UI"/>
                <a:cs typeface="Segoe UI"/>
              </a:defRPr>
            </a:pPr>
            <a:r>
              <a:rPr sz="2325" b="1">
                <a:solidFill>
                  <a:srgbClr val="87C6AD"/>
                </a:solidFill>
                <a:latin typeface="Segoe UI"/>
                <a:ea typeface="Segoe UI"/>
                <a:cs typeface="Segoe UI"/>
              </a:rPr>
              <a:t>Yetki ve kayıt</a:t>
            </a:r>
          </a:p>
        </p:txBody>
      </p:sp>
      <p:sp>
        <p:nvSpPr>
          <p:cNvPr id="6" name="">
            <a:extLst xmlns:a="http://schemas.openxmlformats.org/drawingml/2006/main">
              <a:ext uri="{FF2B5EF4-FFF2-40B4-BE49-F238E27FC236}">
                <a16:creationId xmlns:a16="http://schemas.microsoft.com/office/drawing/2014/main" id="{CE634203-B3CD-4F2D-9E77-9400C52E5C7D}"/>
              </a:ext>
            </a:extLst>
          </p:cNvPr>
          <p:cNvSpPr>
            <a:spLocks xmlns:a="http://schemas.openxmlformats.org/drawingml/2006/main" noGrp="1"/>
          </p:cNvSpPr>
          <p:nvPr/>
        </p:nvSpPr>
        <p:spPr>
          <a:xfrm xmlns:a="http://schemas.openxmlformats.org/drawingml/2006/main">
            <a:off x="3619500" y="3476625"/>
            <a:ext cx="781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FFFFF"/>
                </a:solidFill>
                <a:latin typeface="Segoe UI"/>
                <a:ea typeface="Segoe UI"/>
                <a:cs typeface="Segoe UI"/>
              </a:defRPr>
            </a:defPPr>
          </a:lstStyle>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Veri katmanında öğrencinin ilgili hesaba ait olduğu kontrol edilir.</a:t>
            </a:r>
          </a:p>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Böylece veli ve öğretmen yetkili oldukları kayıtları görür.</a:t>
            </a:r>
          </a:p>
        </p:txBody>
      </p:sp>
      <p:sp>
        <p:nvSpPr>
          <p:cNvPr id="7" name="">
            <a:extLst xmlns:a="http://schemas.openxmlformats.org/drawingml/2006/main">
              <a:ext uri="{FF2B5EF4-FFF2-40B4-BE49-F238E27FC236}">
                <a16:creationId xmlns:a16="http://schemas.microsoft.com/office/drawing/2014/main" id="{F99B03A7-82F9-469F-9004-F56E10CAB926}"/>
              </a:ext>
            </a:extLst>
          </p:cNvPr>
          <p:cNvSpPr>
            <a:spLocks xmlns:a="http://schemas.openxmlformats.org/drawingml/2006/main" noGrp="1"/>
          </p:cNvSpPr>
          <p:nvPr/>
        </p:nvSpPr>
        <p:spPr>
          <a:xfrm xmlns:a="http://schemas.openxmlformats.org/drawingml/2006/main">
            <a:off x="609600" y="47625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87C6AD"/>
                </a:solidFill>
                <a:latin typeface="Segoe UI"/>
                <a:ea typeface="Segoe UI"/>
                <a:cs typeface="Segoe UI"/>
              </a:defRPr>
            </a:defPPr>
          </a:lstStyle>
          <a:p xmlns:a="http://schemas.openxmlformats.org/drawingml/2006/main">
            <a:pPr>
              <a:defRPr sz="2325" b="1">
                <a:solidFill>
                  <a:srgbClr val="87C6AD"/>
                </a:solidFill>
                <a:latin typeface="Segoe UI"/>
                <a:ea typeface="Segoe UI"/>
                <a:cs typeface="Segoe UI"/>
              </a:defRPr>
            </a:pPr>
            <a:r>
              <a:rPr sz="2325" b="1">
                <a:solidFill>
                  <a:srgbClr val="87C6AD"/>
                </a:solidFill>
                <a:latin typeface="Segoe UI"/>
                <a:ea typeface="Segoe UI"/>
                <a:cs typeface="Segoe UI"/>
              </a:rPr>
              <a:t>Doğrulama</a:t>
            </a:r>
          </a:p>
        </p:txBody>
      </p:sp>
      <p:sp>
        <p:nvSpPr>
          <p:cNvPr id="8" name="">
            <a:extLst xmlns:a="http://schemas.openxmlformats.org/drawingml/2006/main">
              <a:ext uri="{FF2B5EF4-FFF2-40B4-BE49-F238E27FC236}">
                <a16:creationId xmlns:a16="http://schemas.microsoft.com/office/drawing/2014/main" id="{B68F8D0B-FB95-48D1-A879-69EE98E7070C}"/>
              </a:ext>
            </a:extLst>
          </p:cNvPr>
          <p:cNvSpPr>
            <a:spLocks xmlns:a="http://schemas.openxmlformats.org/drawingml/2006/main" noGrp="1"/>
          </p:cNvSpPr>
          <p:nvPr/>
        </p:nvSpPr>
        <p:spPr>
          <a:xfrm xmlns:a="http://schemas.openxmlformats.org/drawingml/2006/main">
            <a:off x="3619500" y="4762500"/>
            <a:ext cx="781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FFFFF"/>
                </a:solidFill>
                <a:latin typeface="Segoe UI"/>
                <a:ea typeface="Segoe UI"/>
                <a:cs typeface="Segoe UI"/>
              </a:defRPr>
            </a:defPPr>
          </a:lstStyle>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Otomatik testler soru tekrarı, ilerleme hesabı ve hata akışını sınar.</a:t>
            </a:r>
          </a:p>
          <a:p xmlns:a="http://schemas.openxmlformats.org/drawingml/2006/main">
            <a:pPr>
              <a:defRPr sz="1800" b="0">
                <a:solidFill>
                  <a:srgbClr val="FFFFFF"/>
                </a:solidFill>
                <a:latin typeface="Segoe UI"/>
                <a:ea typeface="Segoe UI"/>
                <a:cs typeface="Segoe UI"/>
              </a:defRPr>
            </a:pPr>
            <a:r>
              <a:rPr sz="1800" b="0">
                <a:solidFill>
                  <a:srgbClr val="FFFFFF"/>
                </a:solidFill>
                <a:latin typeface="Segoe UI"/>
                <a:ea typeface="Segoe UI"/>
                <a:cs typeface="Segoe UI"/>
              </a:rPr>
              <a:t>Eğitim etkisi ayrıca öğrenci pilotuyla ölçülmelidir.</a:t>
            </a:r>
          </a:p>
        </p:txBody>
      </p:sp>
      <p:sp>
        <p:nvSpPr>
          <p:cNvPr id="9" name="">
            <a:extLst xmlns:a="http://schemas.openxmlformats.org/drawingml/2006/main">
              <a:ext uri="{FF2B5EF4-FFF2-40B4-BE49-F238E27FC236}">
                <a16:creationId xmlns:a16="http://schemas.microsoft.com/office/drawing/2014/main" id="{3182D97E-052E-4900-9304-0A085A35102B}"/>
              </a:ext>
            </a:extLst>
          </p:cNvPr>
          <p:cNvSpPr>
            <a:spLocks xmlns:a="http://schemas.openxmlformats.org/drawingml/2006/main" noGrp="1"/>
          </p:cNvSpPr>
          <p:nvPr/>
        </p:nvSpPr>
        <p:spPr>
          <a:xfrm xmlns:a="http://schemas.openxmlformats.org/drawingml/2006/main">
            <a:off x="609600" y="61912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BFDCCD"/>
                </a:solidFill>
                <a:latin typeface="Segoe UI"/>
                <a:ea typeface="Segoe UI"/>
                <a:cs typeface="Segoe UI"/>
              </a:defRPr>
            </a:defPPr>
          </a:lstStyle>
          <a:p xmlns:a="http://schemas.openxmlformats.org/drawingml/2006/main">
            <a:pPr>
              <a:defRPr sz="1500" b="0">
                <a:solidFill>
                  <a:srgbClr val="BFDCCD"/>
                </a:solidFill>
                <a:latin typeface="Segoe UI"/>
                <a:ea typeface="Segoe UI"/>
                <a:cs typeface="Segoe UI"/>
              </a:defRPr>
            </a:pPr>
            <a:r>
              <a:rPr sz="1500" b="0">
                <a:solidFill>
                  <a:srgbClr val="BFDCCD"/>
                </a:solidFill>
                <a:latin typeface="Segoe UI"/>
                <a:ea typeface="Segoe UI"/>
                <a:cs typeface="Segoe UI"/>
              </a:rPr>
              <a:t>Basit öğrenci girişi güçlü doğrulama değildir. SQLite dosyası otomatik şifrelenmez.</a:t>
            </a:r>
          </a:p>
        </p:txBody>
      </p:sp>
    </p:spTree>
    <p:extLst>
      <p:ext uri="{BB962C8B-B14F-4D97-AF65-F5344CB8AC3E}">
        <p14:creationId xmlns:p14="http://schemas.microsoft.com/office/powerpoint/2010/main" val="1651879457"/>
      </p:ext>
    </p:extLst>
  </p:cSld>
</p:sld>
</file>

<file path=ppt/slides/slide12.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845E101-28EA-4B59-9618-F5E6AD7D9120}"/>
              </a:ext>
            </a:extLst>
          </p:cNvPr>
          <p:cNvSpPr>
            <a:spLocks xmlns:a="http://schemas.openxmlformats.org/drawingml/2006/main" noGrp="1"/>
          </p:cNvSpPr>
          <p:nvPr/>
        </p:nvSpPr>
        <p:spPr>
          <a:xfrm xmlns:a="http://schemas.openxmlformats.org/drawingml/2006/main">
            <a:off x="609600" y="285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B9C80"/>
                </a:solidFill>
                <a:latin typeface="Segoe UI"/>
                <a:ea typeface="Segoe UI"/>
                <a:cs typeface="Segoe UI"/>
              </a:defRPr>
            </a:defPPr>
          </a:lstStyle>
          <a:p xmlns:a="http://schemas.openxmlformats.org/drawingml/2006/main">
            <a:pPr>
              <a:defRPr sz="1200" b="1">
                <a:solidFill>
                  <a:srgbClr val="2B9C80"/>
                </a:solidFill>
                <a:latin typeface="Segoe UI"/>
                <a:ea typeface="Segoe UI"/>
                <a:cs typeface="Segoe UI"/>
              </a:defRPr>
            </a:pPr>
            <a:r>
              <a:rPr sz="1200" b="1">
                <a:solidFill>
                  <a:srgbClr val="2B9C80"/>
                </a:solidFill>
                <a:latin typeface="Segoe UI"/>
                <a:ea typeface="Segoe UI"/>
                <a:cs typeface="Segoe UI"/>
              </a:rPr>
              <a:t>ÖĞRENME MOLASI</a:t>
            </a:r>
          </a:p>
        </p:txBody>
      </p:sp>
      <p:sp>
        <p:nvSpPr>
          <p:cNvPr id="2" name="">
            <a:extLst xmlns:a="http://schemas.openxmlformats.org/drawingml/2006/main">
              <a:ext uri="{FF2B5EF4-FFF2-40B4-BE49-F238E27FC236}">
                <a16:creationId xmlns:a16="http://schemas.microsoft.com/office/drawing/2014/main" id="{BF29CE80-D8E8-4ECD-816D-2DE939203992}"/>
              </a:ext>
            </a:extLst>
          </p:cNvPr>
          <p:cNvSpPr>
            <a:spLocks xmlns:a="http://schemas.openxmlformats.org/drawingml/2006/main" noGrp="1"/>
          </p:cNvSpPr>
          <p:nvPr/>
        </p:nvSpPr>
        <p:spPr>
          <a:xfrm xmlns:a="http://schemas.openxmlformats.org/drawingml/2006/main">
            <a:off x="609600" y="857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2B3C"/>
                </a:solidFill>
                <a:latin typeface="Segoe UI"/>
                <a:ea typeface="Segoe UI"/>
                <a:cs typeface="Segoe UI"/>
              </a:defRPr>
            </a:defPPr>
          </a:lstStyle>
          <a:p xmlns:a="http://schemas.openxmlformats.org/drawingml/2006/main">
            <a:pPr>
              <a:defRPr sz="3300" b="1">
                <a:solidFill>
                  <a:srgbClr val="152B3C"/>
                </a:solidFill>
                <a:latin typeface="Segoe UI"/>
                <a:ea typeface="Segoe UI"/>
                <a:cs typeface="Segoe UI"/>
              </a:defRPr>
            </a:pPr>
            <a:r>
              <a:rPr sz="3300" b="1">
                <a:solidFill>
                  <a:srgbClr val="152B3C"/>
                </a:solidFill>
                <a:latin typeface="Segoe UI"/>
                <a:ea typeface="Segoe UI"/>
                <a:cs typeface="Segoe UI"/>
              </a:rPr>
              <a:t>Tablet ve telefona entegre edecek olsak</a:t>
            </a:r>
          </a:p>
          <a:p xmlns:a="http://schemas.openxmlformats.org/drawingml/2006/main">
            <a:pPr>
              <a:defRPr sz="3300" b="1">
                <a:solidFill>
                  <a:srgbClr val="152B3C"/>
                </a:solidFill>
                <a:latin typeface="Segoe UI"/>
                <a:ea typeface="Segoe UI"/>
                <a:cs typeface="Segoe UI"/>
              </a:defRPr>
            </a:pPr>
            <a:r>
              <a:rPr sz="3300" b="1">
                <a:solidFill>
                  <a:srgbClr val="152B3C"/>
                </a:solidFill>
                <a:latin typeface="Segoe UI"/>
                <a:ea typeface="Segoe UI"/>
                <a:cs typeface="Segoe UI"/>
              </a:rPr>
              <a:t>ne yapardık?</a:t>
            </a:r>
          </a:p>
        </p:txBody>
      </p:sp>
      <p:sp>
        <p:nvSpPr>
          <p:cNvPr id="3" name="">
            <a:extLst xmlns:a="http://schemas.openxmlformats.org/drawingml/2006/main">
              <a:ext uri="{FF2B5EF4-FFF2-40B4-BE49-F238E27FC236}">
                <a16:creationId xmlns:a16="http://schemas.microsoft.com/office/drawing/2014/main" id="{4A53CE39-CB62-4D48-9B16-3F81717EB2D6}"/>
              </a:ext>
            </a:extLst>
          </p:cNvPr>
          <p:cNvSpPr>
            <a:spLocks xmlns:a="http://schemas.openxmlformats.org/drawingml/2006/main" noGrp="1"/>
          </p:cNvSpPr>
          <p:nvPr/>
        </p:nvSpPr>
        <p:spPr>
          <a:xfrm xmlns:a="http://schemas.openxmlformats.org/drawingml/2006/main">
            <a:off x="609600" y="23336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B9C80"/>
                </a:solidFill>
                <a:latin typeface="Segoe UI"/>
                <a:ea typeface="Segoe UI"/>
                <a:cs typeface="Segoe UI"/>
              </a:defRPr>
            </a:defPPr>
          </a:lstStyle>
          <a:p xmlns:a="http://schemas.openxmlformats.org/drawingml/2006/main">
            <a:pPr>
              <a:defRPr sz="1875" b="1">
                <a:solidFill>
                  <a:srgbClr val="2B9C80"/>
                </a:solidFill>
                <a:latin typeface="Segoe UI"/>
                <a:ea typeface="Segoe UI"/>
                <a:cs typeface="Segoe UI"/>
              </a:defRPr>
            </a:pPr>
            <a:r>
              <a:rPr sz="1875" b="1">
                <a:solidFill>
                  <a:srgbClr val="2B9C80"/>
                </a:solidFill>
                <a:latin typeface="Segoe UI"/>
                <a:ea typeface="Segoe UI"/>
                <a:cs typeface="Segoe UI"/>
              </a:rPr>
              <a:t>MOBİL ARAYÜZ</a:t>
            </a:r>
          </a:p>
        </p:txBody>
      </p:sp>
      <p:sp>
        <p:nvSpPr>
          <p:cNvPr id="4" name="">
            <a:extLst xmlns:a="http://schemas.openxmlformats.org/drawingml/2006/main">
              <a:ext uri="{FF2B5EF4-FFF2-40B4-BE49-F238E27FC236}">
                <a16:creationId xmlns:a16="http://schemas.microsoft.com/office/drawing/2014/main" id="{85018905-C2F5-4D5B-83FF-DC88021B1BA4}"/>
              </a:ext>
            </a:extLst>
          </p:cNvPr>
          <p:cNvSpPr>
            <a:spLocks xmlns:a="http://schemas.openxmlformats.org/drawingml/2006/main" noGrp="1"/>
          </p:cNvSpPr>
          <p:nvPr/>
        </p:nvSpPr>
        <p:spPr>
          <a:xfrm xmlns:a="http://schemas.openxmlformats.org/drawingml/2006/main">
            <a:off x="609600" y="2905125"/>
            <a:ext cx="5238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3C"/>
                </a:solidFill>
                <a:latin typeface="Segoe UI"/>
                <a:ea typeface="Segoe UI"/>
                <a:cs typeface="Segoe UI"/>
              </a:defRPr>
            </a:defPPr>
          </a:lstStyle>
          <a:p xmlns:a="http://schemas.openxmlformats.org/drawingml/2006/main">
            <a:pPr>
              <a:defRPr sz="1950" b="0">
                <a:solidFill>
                  <a:srgbClr val="152B3C"/>
                </a:solidFill>
                <a:latin typeface="Segoe UI"/>
                <a:ea typeface="Segoe UI"/>
                <a:cs typeface="Segoe UI"/>
              </a:defRPr>
            </a:pPr>
            <a:r>
              <a:rPr sz="1950" b="0">
                <a:solidFill>
                  <a:srgbClr val="152B3C"/>
                </a:solidFill>
                <a:latin typeface="Segoe UI"/>
                <a:ea typeface="Segoe UI"/>
                <a:cs typeface="Segoe UI"/>
              </a:rPr>
              <a:t>Flutter ve Dart ile Android ve iOS</a:t>
            </a:r>
          </a:p>
          <a:p xmlns:a="http://schemas.openxmlformats.org/drawingml/2006/main">
            <a:pPr>
              <a:defRPr sz="1950" b="0">
                <a:solidFill>
                  <a:srgbClr val="152B3C"/>
                </a:solidFill>
                <a:latin typeface="Segoe UI"/>
                <a:ea typeface="Segoe UI"/>
                <a:cs typeface="Segoe UI"/>
              </a:defRPr>
            </a:pPr>
            <a:r>
              <a:rPr sz="1950" b="0">
                <a:solidFill>
                  <a:srgbClr val="152B3C"/>
                </a:solidFill>
                <a:latin typeface="Segoe UI"/>
                <a:ea typeface="Segoe UI"/>
                <a:cs typeface="Segoe UI"/>
              </a:rPr>
              <a:t>arayüzünü yeniden geliştirirdik.</a:t>
            </a:r>
          </a:p>
          <a:p xmlns:a="http://schemas.openxmlformats.org/drawingml/2006/main">
            <a:pPr>
              <a:defRPr sz="1950" b="0">
                <a:solidFill>
                  <a:srgbClr val="152B3C"/>
                </a:solidFill>
                <a:latin typeface="Segoe UI"/>
                <a:ea typeface="Segoe UI"/>
                <a:cs typeface="Segoe UI"/>
              </a:defRPr>
            </a:pPr>
            <a:r>
              <a:rPr sz="1950" b="0">
                <a:solidFill>
                  <a:srgbClr val="152B3C"/>
                </a:solidFill>
                <a:latin typeface="Segoe UI"/>
                <a:ea typeface="Segoe UI"/>
                <a:cs typeface="Segoe UI"/>
              </a:rPr>
              <a:t>Dokunmatik ve kalem kullanımını</a:t>
            </a:r>
          </a:p>
          <a:p xmlns:a="http://schemas.openxmlformats.org/drawingml/2006/main">
            <a:pPr>
              <a:defRPr sz="1950" b="0">
                <a:solidFill>
                  <a:srgbClr val="152B3C"/>
                </a:solidFill>
                <a:latin typeface="Segoe UI"/>
                <a:ea typeface="Segoe UI"/>
                <a:cs typeface="Segoe UI"/>
              </a:defRPr>
            </a:pPr>
            <a:r>
              <a:rPr sz="1950" b="0">
                <a:solidFill>
                  <a:srgbClr val="152B3C"/>
                </a:solidFill>
                <a:latin typeface="Segoe UI"/>
                <a:ea typeface="Segoe UI"/>
                <a:cs typeface="Segoe UI"/>
              </a:rPr>
              <a:t>ekran boyutuna göre uyarlardık.</a:t>
            </a:r>
          </a:p>
        </p:txBody>
      </p:sp>
      <p:sp>
        <p:nvSpPr>
          <p:cNvPr id="5" name="">
            <a:extLst xmlns:a="http://schemas.openxmlformats.org/drawingml/2006/main">
              <a:ext uri="{FF2B5EF4-FFF2-40B4-BE49-F238E27FC236}">
                <a16:creationId xmlns:a16="http://schemas.microsoft.com/office/drawing/2014/main" id="{6F5FDC48-3216-44DB-8765-5ADA1A653A11}"/>
              </a:ext>
            </a:extLst>
          </p:cNvPr>
          <p:cNvSpPr>
            <a:spLocks xmlns:a="http://schemas.openxmlformats.org/drawingml/2006/main" noGrp="1"/>
          </p:cNvSpPr>
          <p:nvPr/>
        </p:nvSpPr>
        <p:spPr>
          <a:xfrm xmlns:a="http://schemas.openxmlformats.org/drawingml/2006/main">
            <a:off x="6572250" y="23336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352C7"/>
                </a:solidFill>
                <a:latin typeface="Segoe UI"/>
                <a:ea typeface="Segoe UI"/>
                <a:cs typeface="Segoe UI"/>
              </a:defRPr>
            </a:defPPr>
          </a:lstStyle>
          <a:p xmlns:a="http://schemas.openxmlformats.org/drawingml/2006/main">
            <a:pPr>
              <a:defRPr sz="1875" b="1">
                <a:solidFill>
                  <a:srgbClr val="7352C7"/>
                </a:solidFill>
                <a:latin typeface="Segoe UI"/>
                <a:ea typeface="Segoe UI"/>
                <a:cs typeface="Segoe UI"/>
              </a:defRPr>
            </a:pPr>
            <a:r>
              <a:rPr sz="1875" b="1">
                <a:solidFill>
                  <a:srgbClr val="7352C7"/>
                </a:solidFill>
                <a:latin typeface="Segoe UI"/>
                <a:ea typeface="Segoe UI"/>
                <a:cs typeface="Segoe UI"/>
              </a:rPr>
              <a:t>ORTAK ALTYAPI</a:t>
            </a:r>
          </a:p>
        </p:txBody>
      </p:sp>
      <p:sp>
        <p:nvSpPr>
          <p:cNvPr id="6" name="">
            <a:extLst xmlns:a="http://schemas.openxmlformats.org/drawingml/2006/main">
              <a:ext uri="{FF2B5EF4-FFF2-40B4-BE49-F238E27FC236}">
                <a16:creationId xmlns:a16="http://schemas.microsoft.com/office/drawing/2014/main" id="{F41151AB-10B8-42C5-A10A-E46061193496}"/>
              </a:ext>
            </a:extLst>
          </p:cNvPr>
          <p:cNvSpPr>
            <a:spLocks xmlns:a="http://schemas.openxmlformats.org/drawingml/2006/main" noGrp="1"/>
          </p:cNvSpPr>
          <p:nvPr/>
        </p:nvSpPr>
        <p:spPr>
          <a:xfrm xmlns:a="http://schemas.openxmlformats.org/drawingml/2006/main">
            <a:off x="6572250" y="2905125"/>
            <a:ext cx="49053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2B3C"/>
                </a:solidFill>
                <a:latin typeface="Segoe UI"/>
                <a:ea typeface="Segoe UI"/>
                <a:cs typeface="Segoe UI"/>
              </a:defRPr>
            </a:defPPr>
          </a:lstStyle>
          <a:p xmlns:a="http://schemas.openxmlformats.org/drawingml/2006/main">
            <a:pPr>
              <a:defRPr sz="1875" b="0">
                <a:solidFill>
                  <a:srgbClr val="152B3C"/>
                </a:solidFill>
                <a:latin typeface="Segoe UI"/>
                <a:ea typeface="Segoe UI"/>
                <a:cs typeface="Segoe UI"/>
              </a:defRPr>
            </a:pPr>
            <a:r>
              <a:rPr sz="1875" b="0">
                <a:solidFill>
                  <a:srgbClr val="152B3C"/>
                </a:solidFill>
                <a:latin typeface="Segoe UI"/>
                <a:ea typeface="Segoe UI"/>
                <a:cs typeface="Segoe UI"/>
              </a:rPr>
              <a:t>Python mantığını sunucu API’sine taşır,</a:t>
            </a:r>
          </a:p>
          <a:p xmlns:a="http://schemas.openxmlformats.org/drawingml/2006/main">
            <a:pPr>
              <a:defRPr sz="1875" b="0">
                <a:solidFill>
                  <a:srgbClr val="152B3C"/>
                </a:solidFill>
                <a:latin typeface="Segoe UI"/>
                <a:ea typeface="Segoe UI"/>
                <a:cs typeface="Segoe UI"/>
              </a:defRPr>
            </a:pPr>
            <a:r>
              <a:rPr sz="1875" b="0">
                <a:solidFill>
                  <a:srgbClr val="152B3C"/>
                </a:solidFill>
                <a:latin typeface="Segoe UI"/>
                <a:ea typeface="Segoe UI"/>
                <a:cs typeface="Segoe UI"/>
              </a:rPr>
              <a:t>hesap ve ilerlemeyi cihazlar arasında</a:t>
            </a:r>
          </a:p>
          <a:p xmlns:a="http://schemas.openxmlformats.org/drawingml/2006/main">
            <a:pPr>
              <a:defRPr sz="1875" b="0">
                <a:solidFill>
                  <a:srgbClr val="152B3C"/>
                </a:solidFill>
                <a:latin typeface="Segoe UI"/>
                <a:ea typeface="Segoe UI"/>
                <a:cs typeface="Segoe UI"/>
              </a:defRPr>
            </a:pPr>
            <a:r>
              <a:rPr sz="1875" b="0">
                <a:solidFill>
                  <a:srgbClr val="152B3C"/>
                </a:solidFill>
                <a:latin typeface="Segoe UI"/>
                <a:ea typeface="Segoe UI"/>
                <a:cs typeface="Segoe UI"/>
              </a:rPr>
              <a:t>eşitlerdik. Gemini anahtarını mobil</a:t>
            </a:r>
          </a:p>
          <a:p xmlns:a="http://schemas.openxmlformats.org/drawingml/2006/main">
            <a:pPr>
              <a:defRPr sz="1875" b="0">
                <a:solidFill>
                  <a:srgbClr val="152B3C"/>
                </a:solidFill>
                <a:latin typeface="Segoe UI"/>
                <a:ea typeface="Segoe UI"/>
                <a:cs typeface="Segoe UI"/>
              </a:defRPr>
            </a:pPr>
            <a:r>
              <a:rPr sz="1875" b="0">
                <a:solidFill>
                  <a:srgbClr val="152B3C"/>
                </a:solidFill>
                <a:latin typeface="Segoe UI"/>
                <a:ea typeface="Segoe UI"/>
                <a:cs typeface="Segoe UI"/>
              </a:rPr>
              <a:t>uygulama yerine sunucuda tutardık.</a:t>
            </a:r>
          </a:p>
        </p:txBody>
      </p:sp>
      <p:sp>
        <p:nvSpPr>
          <p:cNvPr id="7" name="">
            <a:extLst xmlns:a="http://schemas.openxmlformats.org/drawingml/2006/main">
              <a:ext uri="{FF2B5EF4-FFF2-40B4-BE49-F238E27FC236}">
                <a16:creationId xmlns:a16="http://schemas.microsoft.com/office/drawing/2014/main" id="{469F3D8B-76CD-4ED7-AC58-213322D0628A}"/>
              </a:ext>
            </a:extLst>
          </p:cNvPr>
          <p:cNvSpPr>
            <a:spLocks xmlns:a="http://schemas.openxmlformats.org/drawingml/2006/main" noGrp="1"/>
          </p:cNvSpPr>
          <p:nvPr/>
        </p:nvSpPr>
        <p:spPr>
          <a:xfrm xmlns:a="http://schemas.openxmlformats.org/drawingml/2006/main">
            <a:off x="609600" y="4762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352C7"/>
                </a:solidFill>
                <a:latin typeface="Segoe UI"/>
                <a:ea typeface="Segoe UI"/>
                <a:cs typeface="Segoe UI"/>
              </a:defRPr>
            </a:defPPr>
          </a:lstStyle>
          <a:p xmlns:a="http://schemas.openxmlformats.org/drawingml/2006/main">
            <a:pPr>
              <a:defRPr sz="2175" b="1">
                <a:solidFill>
                  <a:srgbClr val="7352C7"/>
                </a:solidFill>
                <a:latin typeface="Segoe UI"/>
                <a:ea typeface="Segoe UI"/>
                <a:cs typeface="Segoe UI"/>
              </a:defRPr>
            </a:pPr>
            <a:r>
              <a:rPr sz="2175" b="1">
                <a:solidFill>
                  <a:srgbClr val="7352C7"/>
                </a:solidFill>
                <a:latin typeface="Segoe UI"/>
                <a:ea typeface="Segoe UI"/>
                <a:cs typeface="Segoe UI"/>
              </a:rPr>
              <a:t>Çalışma saatinde bildirim gönderirdik; ekranı sınırlamak ek izin gerektirir.</a:t>
            </a:r>
          </a:p>
        </p:txBody>
      </p:sp>
      <p:sp>
        <p:nvSpPr>
          <p:cNvPr id="8" name="">
            <a:extLst xmlns:a="http://schemas.openxmlformats.org/drawingml/2006/main">
              <a:ext uri="{FF2B5EF4-FFF2-40B4-BE49-F238E27FC236}">
                <a16:creationId xmlns:a16="http://schemas.microsoft.com/office/drawing/2014/main" id="{C6018013-BF03-48C2-ADCA-F430C1EA86F5}"/>
              </a:ext>
            </a:extLst>
          </p:cNvPr>
          <p:cNvSpPr>
            <a:spLocks xmlns:a="http://schemas.openxmlformats.org/drawingml/2006/main" noGrp="1"/>
          </p:cNvSpPr>
          <p:nvPr/>
        </p:nvSpPr>
        <p:spPr>
          <a:xfrm xmlns:a="http://schemas.openxmlformats.org/drawingml/2006/main">
            <a:off x="609600" y="538162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52B3C"/>
                </a:solidFill>
                <a:latin typeface="Segoe UI"/>
                <a:ea typeface="Segoe UI"/>
                <a:cs typeface="Segoe UI"/>
              </a:defRPr>
            </a:defPPr>
          </a:lstStyle>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Android’de yönetilen cihaz / kiosk seçeneklerini kullanırdık.</a:t>
            </a:r>
          </a:p>
          <a:p xmlns:a="http://schemas.openxmlformats.org/drawingml/2006/main">
            <a:pPr>
              <a:defRPr sz="1725" b="0">
                <a:solidFill>
                  <a:srgbClr val="152B3C"/>
                </a:solidFill>
                <a:latin typeface="Segoe UI"/>
                <a:ea typeface="Segoe UI"/>
                <a:cs typeface="Segoe UI"/>
              </a:defRPr>
            </a:pPr>
            <a:r>
              <a:rPr sz="1725" b="0">
                <a:solidFill>
                  <a:srgbClr val="152B3C"/>
                </a:solidFill>
                <a:latin typeface="Segoe UI"/>
                <a:ea typeface="Segoe UI"/>
                <a:cs typeface="Segoe UI"/>
              </a:rPr>
              <a:t>iOS’ta Guided Access veya cihaz yönetimini incelerdik; her telefonda aynı kilit sağlanamaz.</a:t>
            </a:r>
          </a:p>
        </p:txBody>
      </p:sp>
      <p:sp>
        <p:nvSpPr>
          <p:cNvPr id="9" name="">
            <a:extLst xmlns:a="http://schemas.openxmlformats.org/drawingml/2006/main">
              <a:ext uri="{FF2B5EF4-FFF2-40B4-BE49-F238E27FC236}">
                <a16:creationId xmlns:a16="http://schemas.microsoft.com/office/drawing/2014/main" id="{69492A2A-0036-4359-9A91-BC6E82F50F6E}"/>
              </a:ext>
            </a:extLst>
          </p:cNvPr>
          <p:cNvSpPr>
            <a:spLocks xmlns:a="http://schemas.openxmlformats.org/drawingml/2006/main" noGrp="1"/>
          </p:cNvSpPr>
          <p:nvPr/>
        </p:nvSpPr>
        <p:spPr>
          <a:xfrm xmlns:a="http://schemas.openxmlformats.org/drawingml/2006/main">
            <a:off x="609600" y="63341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6747E"/>
                </a:solidFill>
                <a:latin typeface="Segoe UI"/>
                <a:ea typeface="Segoe UI"/>
                <a:cs typeface="Segoe UI"/>
              </a:defRPr>
            </a:defPPr>
          </a:lstStyle>
          <a:p xmlns:a="http://schemas.openxmlformats.org/drawingml/2006/main">
            <a:pPr>
              <a:defRPr sz="1500" b="0">
                <a:solidFill>
                  <a:srgbClr val="66747E"/>
                </a:solidFill>
                <a:latin typeface="Segoe UI"/>
                <a:ea typeface="Segoe UI"/>
                <a:cs typeface="Segoe UI"/>
              </a:defRPr>
            </a:pPr>
            <a:r>
              <a:rPr sz="1500" b="0">
                <a:solidFill>
                  <a:srgbClr val="66747E"/>
                </a:solidFill>
                <a:latin typeface="Segoe UI"/>
                <a:ea typeface="Segoe UI"/>
                <a:cs typeface="Segoe UI"/>
              </a:rPr>
              <a:t>Gelecek geliştirme planı · Mevcut sürüm Windows üzerinde çalışır.</a:t>
            </a:r>
          </a:p>
        </p:txBody>
      </p:sp>
    </p:spTree>
    <p:extLst>
      <p:ext uri="{BB962C8B-B14F-4D97-AF65-F5344CB8AC3E}">
        <p14:creationId xmlns:p14="http://schemas.microsoft.com/office/powerpoint/2010/main" val="371409234"/>
      </p:ext>
    </p:extLst>
  </p:cSld>
</p:sld>
</file>

<file path=ppt/slides/slide13.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30129C-E7DD-440F-BA99-87B50E0FF90E}"/>
              </a:ext>
            </a:extLst>
          </p:cNvPr>
          <p:cNvSpPr>
            <a:spLocks xmlns:a="http://schemas.openxmlformats.org/drawingml/2006/main" noGrp="1"/>
          </p:cNvSpPr>
          <p:nvPr/>
        </p:nvSpPr>
        <p:spPr>
          <a:xfrm xmlns:a="http://schemas.openxmlformats.org/drawingml/2006/main">
            <a:off x="609600" y="2857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B9C80"/>
                </a:solidFill>
                <a:latin typeface="Segoe UI"/>
                <a:ea typeface="Segoe UI"/>
                <a:cs typeface="Segoe UI"/>
              </a:defRPr>
            </a:defPPr>
          </a:lstStyle>
          <a:p xmlns:a="http://schemas.openxmlformats.org/drawingml/2006/main">
            <a:pPr>
              <a:buNone/>
              <a:defRPr sz="1200" b="1">
                <a:solidFill>
                  <a:srgbClr val="2B9C80"/>
                </a:solidFill>
                <a:latin typeface="Segoe UI"/>
                <a:ea typeface="Segoe UI"/>
                <a:cs typeface="Segoe UI"/>
              </a:defRPr>
            </a:pPr>
            <a:r>
              <a:rPr sz="1200" b="1">
                <a:solidFill>
                  <a:srgbClr val="2B9C80"/>
                </a:solidFill>
                <a:latin typeface="Segoe UI"/>
                <a:ea typeface="Segoe UI"/>
                <a:cs typeface="Segoe UI"/>
              </a:rPr>
              <a:t>ÖĞRENME MOLASI</a:t>
            </a:r>
          </a:p>
        </p:txBody>
      </p:sp>
      <p:sp>
        <p:nvSpPr>
          <p:cNvPr id="2" name="">
            <a:extLst xmlns:a="http://schemas.openxmlformats.org/drawingml/2006/main">
              <a:ext uri="{FF2B5EF4-FFF2-40B4-BE49-F238E27FC236}">
                <a16:creationId xmlns:a16="http://schemas.microsoft.com/office/drawing/2014/main" id="{88878645-7188-42D7-AB31-7BDF0ED03937}"/>
              </a:ext>
            </a:extLst>
          </p:cNvPr>
          <p:cNvSpPr>
            <a:spLocks xmlns:a="http://schemas.openxmlformats.org/drawingml/2006/main" noGrp="1"/>
          </p:cNvSpPr>
          <p:nvPr/>
        </p:nvSpPr>
        <p:spPr>
          <a:xfrm xmlns:a="http://schemas.openxmlformats.org/drawingml/2006/main">
            <a:off x="11144250" y="63055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6747E"/>
                </a:solidFill>
                <a:latin typeface="Segoe UI"/>
                <a:ea typeface="Segoe UI"/>
                <a:cs typeface="Segoe UI"/>
              </a:defRPr>
            </a:defPPr>
          </a:lstStyle>
          <a:p xmlns:a="http://schemas.openxmlformats.org/drawingml/2006/main">
            <a:pPr>
              <a:buNone/>
              <a:defRPr sz="1350" b="0">
                <a:solidFill>
                  <a:srgbClr val="66747E"/>
                </a:solidFill>
                <a:latin typeface="Segoe UI"/>
                <a:ea typeface="Segoe UI"/>
                <a:cs typeface="Segoe UI"/>
              </a:defRPr>
            </a:pPr>
            <a:r>
              <a:rPr sz="1350" b="0">
                <a:solidFill>
                  <a:srgbClr val="66747E"/>
                </a:solidFill>
                <a:latin typeface="Segoe UI"/>
                <a:ea typeface="Segoe UI"/>
                <a:cs typeface="Segoe UI"/>
              </a:rPr>
              <a:t>13</a:t>
            </a:r>
          </a:p>
        </p:txBody>
      </p:sp>
      <p:sp>
        <p:nvSpPr>
          <p:cNvPr id="3" name="">
            <a:extLst xmlns:a="http://schemas.openxmlformats.org/drawingml/2006/main">
              <a:ext uri="{FF2B5EF4-FFF2-40B4-BE49-F238E27FC236}">
                <a16:creationId xmlns:a16="http://schemas.microsoft.com/office/drawing/2014/main" id="{4EAE723B-DC93-4F4C-BD65-DFD592973335}"/>
              </a:ext>
            </a:extLst>
          </p:cNvPr>
          <p:cNvSpPr>
            <a:spLocks xmlns:a="http://schemas.openxmlformats.org/drawingml/2006/main" noGrp="1"/>
          </p:cNvSpPr>
          <p:nvPr/>
        </p:nvSpPr>
        <p:spPr>
          <a:xfrm xmlns:a="http://schemas.openxmlformats.org/drawingml/2006/main">
            <a:off x="609600" y="91440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52B3C"/>
                </a:solidFill>
                <a:latin typeface="Segoe UI"/>
                <a:ea typeface="Segoe UI"/>
                <a:cs typeface="Segoe UI"/>
              </a:defRPr>
            </a:defPPr>
          </a:lstStyle>
          <a:p xmlns:a="http://schemas.openxmlformats.org/drawingml/2006/main">
            <a:pPr>
              <a:buNone/>
              <a:defRPr sz="3600" b="1">
                <a:solidFill>
                  <a:srgbClr val="152B3C"/>
                </a:solidFill>
                <a:latin typeface="Segoe UI"/>
                <a:ea typeface="Segoe UI"/>
                <a:cs typeface="Segoe UI"/>
              </a:defRPr>
            </a:pPr>
            <a:r>
              <a:rPr sz="3600" b="1">
                <a:solidFill>
                  <a:srgbClr val="152B3C"/>
                </a:solidFill>
                <a:latin typeface="Segoe UI"/>
                <a:ea typeface="Segoe UI"/>
                <a:cs typeface="Segoe UI"/>
              </a:rPr>
              <a:t>Çalışan prototipten</a:t>
            </a:r>
          </a:p>
          <a:p xmlns:a="http://schemas.openxmlformats.org/drawingml/2006/main">
            <a:pPr>
              <a:buNone/>
              <a:defRPr sz="3600" b="1">
                <a:solidFill>
                  <a:srgbClr val="152B3C"/>
                </a:solidFill>
                <a:latin typeface="Segoe UI"/>
                <a:ea typeface="Segoe UI"/>
                <a:cs typeface="Segoe UI"/>
              </a:defRPr>
            </a:pPr>
            <a:r>
              <a:rPr sz="3600" b="1">
                <a:solidFill>
                  <a:srgbClr val="152B3C"/>
                </a:solidFill>
                <a:latin typeface="Segoe UI"/>
                <a:ea typeface="Segoe UI"/>
                <a:cs typeface="Segoe UI"/>
              </a:rPr>
              <a:t>ölçülebilir pilota</a:t>
            </a:r>
          </a:p>
        </p:txBody>
      </p:sp>
      <p:pic>
        <p:nvPicPr>
          <p:cNvPr id="4" name="">
            <a:extLst xmlns:a="http://schemas.openxmlformats.org/drawingml/2006/main">
              <a:ext uri="{FF2B5EF4-FFF2-40B4-BE49-F238E27FC236}">
                <a16:creationId xmlns:a16="http://schemas.microsoft.com/office/drawing/2014/main" id="{99A12773-1C1D-4489-BD27-578B18C5C875}"/>
              </a:ext>
            </a:extLst>
          </p:cNvPr>
          <p:cNvPicPr>
            <a:picLocks xmlns:a="http://schemas.openxmlformats.org/drawingml/2006/main" noChangeAspect="1"/>
          </p:cNvPicPr>
          <p:nvPr/>
        </p:nvPicPr>
        <p:blipFill>
          <a:blip xmlns:r="http://schemas.openxmlformats.org/officeDocument/2006/relationships" xmlns:a="http://schemas.openxmlformats.org/drawingml/2006/main" r:embed="R674f661aa6ee414c"/>
          <a:stretch xmlns:a="http://schemas.openxmlformats.org/drawingml/2006/main"/>
        </p:blipFill>
        <p:spPr>
          <a:xfrm xmlns:a="http://schemas.openxmlformats.org/drawingml/2006/main">
            <a:off x="609600" y="2716212"/>
            <a:ext cx="5619750" cy="2997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05B8932-6C6E-4433-ADF2-9A692F99EDFF}"/>
              </a:ext>
            </a:extLst>
          </p:cNvPr>
          <p:cNvSpPr>
            <a:spLocks xmlns:a="http://schemas.openxmlformats.org/drawingml/2006/main" noGrp="1"/>
          </p:cNvSpPr>
          <p:nvPr/>
        </p:nvSpPr>
        <p:spPr>
          <a:xfrm xmlns:a="http://schemas.openxmlformats.org/drawingml/2006/main">
            <a:off x="7000875" y="2476500"/>
            <a:ext cx="447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B9C80"/>
                </a:solidFill>
                <a:latin typeface="Segoe UI"/>
                <a:ea typeface="Segoe UI"/>
                <a:cs typeface="Segoe UI"/>
              </a:defRPr>
            </a:defPPr>
          </a:lstStyle>
          <a:p xmlns:a="http://schemas.openxmlformats.org/drawingml/2006/main">
            <a:pPr>
              <a:buNone/>
              <a:defRPr sz="1650" b="1">
                <a:solidFill>
                  <a:srgbClr val="2B9C80"/>
                </a:solidFill>
                <a:latin typeface="Segoe UI"/>
                <a:ea typeface="Segoe UI"/>
                <a:cs typeface="Segoe UI"/>
              </a:defRPr>
            </a:pPr>
            <a:r>
              <a:rPr sz="1650" b="1">
                <a:solidFill>
                  <a:srgbClr val="2B9C80"/>
                </a:solidFill>
                <a:latin typeface="Segoe UI"/>
                <a:ea typeface="Segoe UI"/>
                <a:cs typeface="Segoe UI"/>
              </a:rPr>
              <a:t>SONRAKİ ADIM</a:t>
            </a:r>
          </a:p>
        </p:txBody>
      </p:sp>
      <p:sp>
        <p:nvSpPr>
          <p:cNvPr id="6" name="">
            <a:extLst xmlns:a="http://schemas.openxmlformats.org/drawingml/2006/main">
              <a:ext uri="{FF2B5EF4-FFF2-40B4-BE49-F238E27FC236}">
                <a16:creationId xmlns:a16="http://schemas.microsoft.com/office/drawing/2014/main" id="{4254FE06-853D-4450-AA93-C9569E345A51}"/>
              </a:ext>
            </a:extLst>
          </p:cNvPr>
          <p:cNvSpPr>
            <a:spLocks xmlns:a="http://schemas.openxmlformats.org/drawingml/2006/main" noGrp="1"/>
          </p:cNvSpPr>
          <p:nvPr/>
        </p:nvSpPr>
        <p:spPr>
          <a:xfrm xmlns:a="http://schemas.openxmlformats.org/drawingml/2006/main">
            <a:off x="7000875" y="2952750"/>
            <a:ext cx="4524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7352C7"/>
                </a:solidFill>
                <a:latin typeface="Segoe UI"/>
                <a:ea typeface="Segoe UI"/>
                <a:cs typeface="Segoe UI"/>
              </a:defRPr>
            </a:defPPr>
          </a:lstStyle>
          <a:p xmlns:a="http://schemas.openxmlformats.org/drawingml/2006/main">
            <a:pPr>
              <a:buNone/>
              <a:defRPr sz="3000" b="1">
                <a:solidFill>
                  <a:srgbClr val="7352C7"/>
                </a:solidFill>
                <a:latin typeface="Segoe UI"/>
                <a:ea typeface="Segoe UI"/>
                <a:cs typeface="Segoe UI"/>
              </a:defRPr>
            </a:pPr>
            <a:r>
              <a:rPr sz="3000" b="1">
                <a:solidFill>
                  <a:srgbClr val="7352C7"/>
                </a:solidFill>
                <a:latin typeface="Segoe UI"/>
                <a:ea typeface="Segoe UI"/>
                <a:cs typeface="Segoe UI"/>
              </a:rPr>
              <a:t>Öğretmen denetiminde</a:t>
            </a:r>
          </a:p>
          <a:p xmlns:a="http://schemas.openxmlformats.org/drawingml/2006/main">
            <a:pPr>
              <a:buNone/>
              <a:defRPr sz="3000" b="1">
                <a:solidFill>
                  <a:srgbClr val="7352C7"/>
                </a:solidFill>
                <a:latin typeface="Segoe UI"/>
                <a:ea typeface="Segoe UI"/>
                <a:cs typeface="Segoe UI"/>
              </a:defRPr>
            </a:pPr>
            <a:r>
              <a:rPr sz="3000" b="1">
                <a:solidFill>
                  <a:srgbClr val="7352C7"/>
                </a:solidFill>
                <a:latin typeface="Segoe UI"/>
                <a:ea typeface="Segoe UI"/>
                <a:cs typeface="Segoe UI"/>
              </a:rPr>
              <a:t>öğrenci pilotu</a:t>
            </a:r>
          </a:p>
        </p:txBody>
      </p:sp>
      <p:sp>
        <p:nvSpPr>
          <p:cNvPr id="7" name="">
            <a:extLst xmlns:a="http://schemas.openxmlformats.org/drawingml/2006/main">
              <a:ext uri="{FF2B5EF4-FFF2-40B4-BE49-F238E27FC236}">
                <a16:creationId xmlns:a16="http://schemas.microsoft.com/office/drawing/2014/main" id="{DB2607F6-177E-4BAF-A4BD-CE8AF3C64B7E}"/>
              </a:ext>
            </a:extLst>
          </p:cNvPr>
          <p:cNvSpPr>
            <a:spLocks xmlns:a="http://schemas.openxmlformats.org/drawingml/2006/main" noGrp="1"/>
          </p:cNvSpPr>
          <p:nvPr/>
        </p:nvSpPr>
        <p:spPr>
          <a:xfrm xmlns:a="http://schemas.openxmlformats.org/drawingml/2006/main">
            <a:off x="7000875" y="4476750"/>
            <a:ext cx="4476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2B3C"/>
                </a:solidFill>
                <a:latin typeface="Segoe UI"/>
                <a:ea typeface="Segoe UI"/>
                <a:cs typeface="Segoe UI"/>
              </a:defRPr>
            </a:defPPr>
          </a:lstStyle>
          <a:p xmlns:a="http://schemas.openxmlformats.org/drawingml/2006/main">
            <a:pPr>
              <a:buNone/>
              <a:defRPr sz="2175" b="0">
                <a:solidFill>
                  <a:srgbClr val="152B3C"/>
                </a:solidFill>
                <a:latin typeface="Segoe UI"/>
                <a:ea typeface="Segoe UI"/>
                <a:cs typeface="Segoe UI"/>
              </a:defRPr>
            </a:pPr>
            <a:r>
              <a:rPr sz="2175" b="0">
                <a:solidFill>
                  <a:srgbClr val="152B3C"/>
                </a:solidFill>
                <a:latin typeface="Segoe UI"/>
                <a:ea typeface="Segoe UI"/>
                <a:cs typeface="Segoe UI"/>
              </a:rPr>
              <a:t>Pilot çalışmada konu başarısını,</a:t>
            </a:r>
          </a:p>
          <a:p xmlns:a="http://schemas.openxmlformats.org/drawingml/2006/main">
            <a:pPr>
              <a:buNone/>
              <a:defRPr sz="2175" b="0">
                <a:solidFill>
                  <a:srgbClr val="152B3C"/>
                </a:solidFill>
                <a:latin typeface="Segoe UI"/>
                <a:ea typeface="Segoe UI"/>
                <a:cs typeface="Segoe UI"/>
              </a:defRPr>
            </a:pPr>
            <a:r>
              <a:rPr sz="2175" b="0">
                <a:solidFill>
                  <a:srgbClr val="152B3C"/>
                </a:solidFill>
                <a:latin typeface="Segoe UI"/>
                <a:ea typeface="Segoe UI"/>
                <a:cs typeface="Segoe UI"/>
              </a:rPr>
              <a:t>öğrenmenin kalıcılığını ve üretilen</a:t>
            </a:r>
          </a:p>
          <a:p xmlns:a="http://schemas.openxmlformats.org/drawingml/2006/main">
            <a:pPr>
              <a:buNone/>
              <a:defRPr sz="2175" b="0">
                <a:solidFill>
                  <a:srgbClr val="152B3C"/>
                </a:solidFill>
                <a:latin typeface="Segoe UI"/>
                <a:ea typeface="Segoe UI"/>
                <a:cs typeface="Segoe UI"/>
              </a:defRPr>
            </a:pPr>
            <a:r>
              <a:rPr sz="2175" b="0">
                <a:solidFill>
                  <a:srgbClr val="152B3C"/>
                </a:solidFill>
                <a:latin typeface="Segoe UI"/>
                <a:ea typeface="Segoe UI"/>
                <a:cs typeface="Segoe UI"/>
              </a:rPr>
              <a:t>soruların doğruluğunu ölçeceğiz.</a:t>
            </a:r>
          </a:p>
        </p:txBody>
      </p:sp>
      <p:sp>
        <p:nvSpPr>
          <p:cNvPr id="8" name="">
            <a:extLst xmlns:a="http://schemas.openxmlformats.org/drawingml/2006/main">
              <a:ext uri="{FF2B5EF4-FFF2-40B4-BE49-F238E27FC236}">
                <a16:creationId xmlns:a16="http://schemas.microsoft.com/office/drawing/2014/main" id="{81AF4304-8DB9-45CF-9408-368FAE70C607}"/>
              </a:ext>
            </a:extLst>
          </p:cNvPr>
          <p:cNvSpPr>
            <a:spLocks xmlns:a="http://schemas.openxmlformats.org/drawingml/2006/main" noGrp="1"/>
          </p:cNvSpPr>
          <p:nvPr/>
        </p:nvSpPr>
        <p:spPr>
          <a:xfrm xmlns:a="http://schemas.openxmlformats.org/drawingml/2006/main">
            <a:off x="609600" y="61912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52B3C"/>
                </a:solidFill>
                <a:latin typeface="Segoe UI"/>
                <a:ea typeface="Segoe UI"/>
                <a:cs typeface="Segoe UI"/>
              </a:defRPr>
            </a:defPPr>
          </a:lstStyle>
          <a:p xmlns:a="http://schemas.openxmlformats.org/drawingml/2006/main">
            <a:pPr>
              <a:buNone/>
              <a:defRPr sz="2025" b="1">
                <a:solidFill>
                  <a:srgbClr val="152B3C"/>
                </a:solidFill>
                <a:latin typeface="Segoe UI"/>
                <a:ea typeface="Segoe UI"/>
                <a:cs typeface="Segoe UI"/>
              </a:defRPr>
            </a:pPr>
            <a:r>
              <a:rPr sz="2025" b="1">
                <a:solidFill>
                  <a:srgbClr val="152B3C"/>
                </a:solidFill>
                <a:latin typeface="Segoe UI"/>
                <a:ea typeface="Segoe UI"/>
                <a:cs typeface="Segoe UI"/>
              </a:rPr>
              <a:t>Hedef: her çocuğun zorlandığı kazanıma uygun destek.</a:t>
            </a:r>
          </a:p>
        </p:txBody>
      </p:sp>
    </p:spTree>
    <p:extLst>
      <p:ext uri="{BB962C8B-B14F-4D97-AF65-F5344CB8AC3E}">
        <p14:creationId xmlns:p14="http://schemas.microsoft.com/office/powerpoint/2010/main" val="9778719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2026-10-10T05:21:43.3100000Z</dcterms:created>
  <dcterms:modified xsi:type="dcterms:W3CDTF">2026-10-10T05:21:43.3100000Z</dcterms:modified>
</coreProperties>
</file>